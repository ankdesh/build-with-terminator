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4040eb43ec4f28" /><Relationship Type="http://schemas.openxmlformats.org/officeDocument/2006/relationships/extended-properties" Target="/docProps/app.xml" Id="R23aac96018bc45c5" /><Relationship Type="http://schemas.openxmlformats.org/officeDocument/2006/relationships/officeDocument" Target="/ppt/presentation.xml" Id="Rbcff5b26429e45b0" /></Relationships>
</file>

<file path=ppt/presentation.xml><?xml version="1.0" encoding="utf-8"?>
<p:presentation xmlns:p="http://schemas.openxmlformats.org/presentationml/2006/main">
  <p:sldMasterIdLst>
    <p:sldMasterId xmlns:r="http://schemas.openxmlformats.org/officeDocument/2006/relationships" id="2147483648" r:id="R2f83a70ceaec4051"/>
  </p:sldMasterIdLst>
  <p:notesMasterIdLst>
    <p:notesMasterId xmlns:r="http://schemas.openxmlformats.org/officeDocument/2006/relationships" r:id="R6b14ddf97c584106"/>
  </p:notesMasterIdLst>
  <p:sldIdLst>
    <p:sldId xmlns:r="http://schemas.openxmlformats.org/officeDocument/2006/relationships" id="256" r:id="Rcf8b0f97b7ed493e"/>
    <p:sldId xmlns:r="http://schemas.openxmlformats.org/officeDocument/2006/relationships" id="257" r:id="Rb35a5a1798324c04"/>
    <p:sldId xmlns:r="http://schemas.openxmlformats.org/officeDocument/2006/relationships" id="258" r:id="R7b1e6a81feb54348"/>
    <p:sldId xmlns:r="http://schemas.openxmlformats.org/officeDocument/2006/relationships" id="259" r:id="Rf487f260447549fb"/>
    <p:sldId xmlns:r="http://schemas.openxmlformats.org/officeDocument/2006/relationships" id="260" r:id="R6775267dae644efb"/>
    <p:sldId xmlns:r="http://schemas.openxmlformats.org/officeDocument/2006/relationships" id="261" r:id="R1922a0a385a44083"/>
    <p:sldId xmlns:r="http://schemas.openxmlformats.org/officeDocument/2006/relationships" id="262" r:id="R38ca34eaea44422c"/>
    <p:sldId xmlns:r="http://schemas.openxmlformats.org/officeDocument/2006/relationships" id="263" r:id="Rf9c8031b720a43bc"/>
    <p:sldId xmlns:r="http://schemas.openxmlformats.org/officeDocument/2006/relationships" id="264" r:id="Rb9ddfec0e71a4018"/>
    <p:sldId xmlns:r="http://schemas.openxmlformats.org/officeDocument/2006/relationships" id="265" r:id="R99deb03e10214851"/>
    <p:sldId xmlns:r="http://schemas.openxmlformats.org/officeDocument/2006/relationships" id="266" r:id="R1c8d18c4e69a4d1e"/>
    <p:sldId xmlns:r="http://schemas.openxmlformats.org/officeDocument/2006/relationships" id="267" r:id="Rde3d8c95bb424ed0"/>
    <p:sldId xmlns:r="http://schemas.openxmlformats.org/officeDocument/2006/relationships" id="268" r:id="Rec89ac33f0984804"/>
    <p:sldId xmlns:r="http://schemas.openxmlformats.org/officeDocument/2006/relationships" id="269" r:id="R080232c4a29345fa"/>
    <p:sldId xmlns:r="http://schemas.openxmlformats.org/officeDocument/2006/relationships" id="270" r:id="Rcda428a04de34318"/>
    <p:sldId xmlns:r="http://schemas.openxmlformats.org/officeDocument/2006/relationships" id="271" r:id="Rda8cde9dd42e438b"/>
    <p:sldId xmlns:r="http://schemas.openxmlformats.org/officeDocument/2006/relationships" id="272" r:id="Rfd8a49ad24224ed5"/>
    <p:sldId xmlns:r="http://schemas.openxmlformats.org/officeDocument/2006/relationships" id="273" r:id="Rfad46813549a4037"/>
    <p:sldId xmlns:r="http://schemas.openxmlformats.org/officeDocument/2006/relationships" id="274" r:id="Ra37deab26aa34c7c"/>
    <p:sldId xmlns:r="http://schemas.openxmlformats.org/officeDocument/2006/relationships" id="275" r:id="Ra9c843fa82b9429a"/>
    <p:sldId xmlns:r="http://schemas.openxmlformats.org/officeDocument/2006/relationships" id="276" r:id="Rf494821844b544d9"/>
    <p:sldId xmlns:r="http://schemas.openxmlformats.org/officeDocument/2006/relationships" id="277" r:id="Raf830c504fbc49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801a233dc848b9" /><Relationship Type="http://schemas.openxmlformats.org/officeDocument/2006/relationships/slideMaster" Target="/ppt/slideMasters/slideMaster1.xml" Id="R2f83a70ceaec4051" /><Relationship Type="http://schemas.openxmlformats.org/officeDocument/2006/relationships/notesMaster" Target="/ppt/notesMasters/notesMaster1.xml" Id="R6b14ddf97c584106" /><Relationship Type="http://schemas.openxmlformats.org/officeDocument/2006/relationships/presProps" Target="/ppt/presProps.xml" Id="R56ba2f868fde42d6" /><Relationship Type="http://schemas.openxmlformats.org/officeDocument/2006/relationships/tableStyles" Target="/ppt/tableStyles.xml" Id="R98761f774d654621" /><Relationship Type="http://schemas.openxmlformats.org/officeDocument/2006/relationships/slide" Target="/ppt/slides/slide1.xml" Id="Rcf8b0f97b7ed493e" /><Relationship Type="http://schemas.openxmlformats.org/officeDocument/2006/relationships/slide" Target="/ppt/slides/slide2.xml" Id="Rb35a5a1798324c04" /><Relationship Type="http://schemas.openxmlformats.org/officeDocument/2006/relationships/slide" Target="/ppt/slides/slide3.xml" Id="R7b1e6a81feb54348" /><Relationship Type="http://schemas.openxmlformats.org/officeDocument/2006/relationships/slide" Target="/ppt/slides/slide4.xml" Id="Rf487f260447549fb" /><Relationship Type="http://schemas.openxmlformats.org/officeDocument/2006/relationships/slide" Target="/ppt/slides/slide5.xml" Id="R6775267dae644efb" /><Relationship Type="http://schemas.openxmlformats.org/officeDocument/2006/relationships/slide" Target="/ppt/slides/slide6.xml" Id="R1922a0a385a44083" /><Relationship Type="http://schemas.openxmlformats.org/officeDocument/2006/relationships/slide" Target="/ppt/slides/slide7.xml" Id="R38ca34eaea44422c" /><Relationship Type="http://schemas.openxmlformats.org/officeDocument/2006/relationships/slide" Target="/ppt/slides/slide8.xml" Id="Rf9c8031b720a43bc" /><Relationship Type="http://schemas.openxmlformats.org/officeDocument/2006/relationships/slide" Target="/ppt/slides/slide9.xml" Id="Rb9ddfec0e71a4018" /><Relationship Type="http://schemas.openxmlformats.org/officeDocument/2006/relationships/slide" Target="/ppt/slides/slide10.xml" Id="R99deb03e10214851" /><Relationship Type="http://schemas.openxmlformats.org/officeDocument/2006/relationships/slide" Target="/ppt/slides/slide11.xml" Id="R1c8d18c4e69a4d1e" /><Relationship Type="http://schemas.openxmlformats.org/officeDocument/2006/relationships/slide" Target="/ppt/slides/slide12.xml" Id="Rde3d8c95bb424ed0" /><Relationship Type="http://schemas.openxmlformats.org/officeDocument/2006/relationships/slide" Target="/ppt/slides/slide13.xml" Id="Rec89ac33f0984804" /><Relationship Type="http://schemas.openxmlformats.org/officeDocument/2006/relationships/slide" Target="/ppt/slides/slide14.xml" Id="R080232c4a29345fa" /><Relationship Type="http://schemas.openxmlformats.org/officeDocument/2006/relationships/slide" Target="/ppt/slides/slide15.xml" Id="Rcda428a04de34318" /><Relationship Type="http://schemas.openxmlformats.org/officeDocument/2006/relationships/slide" Target="/ppt/slides/slide16.xml" Id="Rda8cde9dd42e438b" /><Relationship Type="http://schemas.openxmlformats.org/officeDocument/2006/relationships/slide" Target="/ppt/slides/slide17.xml" Id="Rfd8a49ad24224ed5" /><Relationship Type="http://schemas.openxmlformats.org/officeDocument/2006/relationships/slide" Target="/ppt/slides/slide18.xml" Id="Rfad46813549a4037" /><Relationship Type="http://schemas.openxmlformats.org/officeDocument/2006/relationships/slide" Target="/ppt/slides/slide19.xml" Id="Ra37deab26aa34c7c" /><Relationship Type="http://schemas.openxmlformats.org/officeDocument/2006/relationships/slide" Target="/ppt/slides/slide20.xml" Id="Ra9c843fa82b9429a" /><Relationship Type="http://schemas.openxmlformats.org/officeDocument/2006/relationships/slide" Target="/ppt/slides/slide21.xml" Id="Rf494821844b544d9" /><Relationship Type="http://schemas.openxmlformats.org/officeDocument/2006/relationships/slide" Target="/ppt/slides/slide22.xml" Id="Raf830c504fbc49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63f2d1318744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a90f045554461f" /><Relationship Type="http://schemas.openxmlformats.org/officeDocument/2006/relationships/notesMaster" Target="/ppt/notesMasters/notesMaster1.xml" Id="R886114cf20874d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a690830bd14fc5" /><Relationship Type="http://schemas.openxmlformats.org/officeDocument/2006/relationships/notesMaster" Target="/ppt/notesMasters/notesMaster1.xml" Id="R803c3c3eb8ac42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75e57c779c4056" /><Relationship Type="http://schemas.openxmlformats.org/officeDocument/2006/relationships/notesMaster" Target="/ppt/notesMasters/notesMaster1.xml" Id="R765ab4f281ea4b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769b7eaa554032" /><Relationship Type="http://schemas.openxmlformats.org/officeDocument/2006/relationships/notesMaster" Target="/ppt/notesMasters/notesMaster1.xml" Id="R8e000428759144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b7d04f554f476b" /><Relationship Type="http://schemas.openxmlformats.org/officeDocument/2006/relationships/notesMaster" Target="/ppt/notesMasters/notesMaster1.xml" Id="R7925cf969c6842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848674c2cf44cb" /><Relationship Type="http://schemas.openxmlformats.org/officeDocument/2006/relationships/notesMaster" Target="/ppt/notesMasters/notesMaster1.xml" Id="Rf3acf839d43545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161a5f7016944c4" /><Relationship Type="http://schemas.openxmlformats.org/officeDocument/2006/relationships/notesMaster" Target="/ppt/notesMasters/notesMaster1.xml" Id="Rfcf4afe239b042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92830a03e74976" /><Relationship Type="http://schemas.openxmlformats.org/officeDocument/2006/relationships/notesMaster" Target="/ppt/notesMasters/notesMaster1.xml" Id="Ra87f74e06c214b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ec7252eeebe43e4" /><Relationship Type="http://schemas.openxmlformats.org/officeDocument/2006/relationships/notesMaster" Target="/ppt/notesMasters/notesMaster1.xml" Id="Rd716834a10244a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a7766191d34961" /><Relationship Type="http://schemas.openxmlformats.org/officeDocument/2006/relationships/notesMaster" Target="/ppt/notesMasters/notesMaster1.xml" Id="Rabaf318c565d4d4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cd0c1c2f184acc" /><Relationship Type="http://schemas.openxmlformats.org/officeDocument/2006/relationships/notesMaster" Target="/ppt/notesMasters/notesMaster1.xml" Id="Rf1b3a21591e447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aece22ed984569" /><Relationship Type="http://schemas.openxmlformats.org/officeDocument/2006/relationships/notesMaster" Target="/ppt/notesMasters/notesMaster1.xml" Id="Rc18bc6ca162946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ce1ab4d07d4aa2" /><Relationship Type="http://schemas.openxmlformats.org/officeDocument/2006/relationships/notesMaster" Target="/ppt/notesMasters/notesMaster1.xml" Id="R233aea08ab9c47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9094b2ed814e8f" /><Relationship Type="http://schemas.openxmlformats.org/officeDocument/2006/relationships/notesMaster" Target="/ppt/notesMasters/notesMaster1.xml" Id="R901ecf1503ba45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edc380b6fcd473b" /><Relationship Type="http://schemas.openxmlformats.org/officeDocument/2006/relationships/notesMaster" Target="/ppt/notesMasters/notesMaster1.xml" Id="R6331f168548e41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044087f95c4c01" /><Relationship Type="http://schemas.openxmlformats.org/officeDocument/2006/relationships/notesMaster" Target="/ppt/notesMasters/notesMaster1.xml" Id="R4c3efe54f7bb4e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c366e4393c4c8d" /><Relationship Type="http://schemas.openxmlformats.org/officeDocument/2006/relationships/notesMaster" Target="/ppt/notesMasters/notesMaster1.xml" Id="R18b178956ed3412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be7a90dda549cc" /><Relationship Type="http://schemas.openxmlformats.org/officeDocument/2006/relationships/notesMaster" Target="/ppt/notesMasters/notesMaster1.xml" Id="R60afcc6831c545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718e92bd8e41b9" /><Relationship Type="http://schemas.openxmlformats.org/officeDocument/2006/relationships/notesMaster" Target="/ppt/notesMasters/notesMaster1.xml" Id="Rb52ec2914ffa4ad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74ec821d6a4d06" /><Relationship Type="http://schemas.openxmlformats.org/officeDocument/2006/relationships/notesMaster" Target="/ppt/notesMasters/notesMaster1.xml" Id="R31bd57606a214c9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559ca8da69c48c1" /><Relationship Type="http://schemas.openxmlformats.org/officeDocument/2006/relationships/notesMaster" Target="/ppt/notesMasters/notesMaster1.xml" Id="R0539decb72db4a4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ef1cb874534128" /><Relationship Type="http://schemas.openxmlformats.org/officeDocument/2006/relationships/notesMaster" Target="/ppt/notesMasters/notesMaster1.xml" Id="R0f2e368ff9304d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the retained datasets and the exact tested repair pipeline. C1 is a deterministic synthetic catalog. C2/C3 adds real ASAP7 standard-cell hierarchy and complete routed GCD/UART blocks. Figures use retained GDS inputs; none is a generated repair. Results cover C1 OpenAI and Bedrock, and C2/C3 Bedrock plus local baselines. Electrical correctness is outside the measured scope.</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/home/ankdesh/explore/build-with-terminator/eda/gdsii/klayout-4-drc/test_data/benchmark_v1/manifest.json</a:t>
            </a:r>
          </a:p>
          <a:p xmlns:a="http://schemas.openxmlformats.org/drawingml/2006/main">
            <a:r>
              <a:t>/home/ankdesh/explore/build-with-terminator/eda/gdsii/klayout-4-drc/test_data/benchmark_c2c3/manifest.json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Synthetic geometry, real cells, and routed blocks</a:t>
            </a:r>
          </a:p>
          <a:p xmlns:a="http://schemas.openxmlformats.org/drawingml/2006/main">
            <a:r>
              <a:t>Units: nm and µm</a:t>
            </a:r>
          </a:p>
          <a:p xmlns:a="http://schemas.openxmlformats.org/drawingml/2006/main">
            <a:r>
              <a:t>Encoding: Blue M1, amber M2, purple V1. Scale bars are per 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GDS stores layout geometry and cell instances. DRC means design rule checking. A GDS layer is identified by layer number and datatype. The layouts use integer database coordinates, with one DBU equal to 0.25 nm. Multiply length in DBU by layout.dbu to obtain micrometers, and area in DBU squared by layout.dbu squared. Red overlays are read from saved checker reports. Width and spacing can be represented by edge pairs; area markers can outline polygons. One shape may produce more than one marker. M1 spacing uses the complete decoded deck expression, including edge filters. A gap below 18 nm alone does not define every possible spacing violation.</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/home/ankdesh/explore/build-with-terminator/eda/gdsii/klayout-4-drc/test_data/benchmark_v1/manifest.json</a:t>
            </a:r>
          </a:p>
          <a:p xmlns:a="http://schemas.openxmlformats.org/drawingml/2006/main">
            <a:r>
              <a:t>/home/ankdesh/explore/build-with-terminator/eda/gdsii/klayout-4-drc/knowledge/klayout_api_patterns.md</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A marker identifies a rule condition; it is not a circuit diagnosis</a:t>
            </a:r>
          </a:p>
          <a:p xmlns:a="http://schemas.openxmlformats.org/drawingml/2006/main">
            <a:r>
              <a:t>Units: nm, nm², DBU</a:t>
            </a:r>
          </a:p>
          <a:p xmlns:a="http://schemas.openxmlformats.org/drawingml/2006/main">
            <a:r>
              <a:t>Encoding: Actual input GDS with saved marker edges. Independent labeled scales.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 has 100 entries but 93 distinct geometry groups. Some boundary entries are clean, so the 22 clean controls exceed the 15 explicitly negative entries. C2/C3 contains five levels, each with two source groups. Each group supplies three repair cases, one clean control, and one read-only challenge. Levels L1 and L2 use real cell masters; L3–L5 use retained routed designs. These are separate benchmark scopes, not a single 150-case repair score.</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/home/ankdesh/explore/build-with-terminator/eda/gdsii/klayout-4-drc/test_data/benchmark_v1/manifest.json</a:t>
            </a:r>
          </a:p>
          <a:p xmlns:a="http://schemas.openxmlformats.org/drawingml/2006/main">
            <a:r>
              <a:t>/home/ankdesh/explore/build-with-terminator/eda/gdsii/klayout-4-drc/test_data/benchmark_c2c3/manifest.json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Each benchmark has its own scope and denominator</a:t>
            </a:r>
          </a:p>
          <a:p xmlns:a="http://schemas.openxmlformats.org/drawingml/2006/main">
            <a:r>
              <a:t>Units: case counts</a:t>
            </a:r>
          </a:p>
          <a:p xmlns:a="http://schemas.openxmlformats.org/drawingml/2006/main">
            <a:r>
              <a:t>Encoding: Parallel scope summaries; no combined success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Isolated entries expose one rule condition. Boundary entries test dimensions around the threshold. Interaction entries combine geometry conditions or rule families. Negative entries should have no scoped marker. The deterministic catalog has 20 entries per rule family: ten isolated, four boundary, three interaction, and three negative cases. Across five families this gives 50 isolated, 20 boundary, 15 interaction, and 15 negative entries. Boundary and interaction cases are part of the same fixed catalog. Acceptance stores the constructor geometry, expected counts, observed marker evidence, source hashes and duplicate geometry groups. V1.W.1 checks width, not via enclosure.</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/home/ankdesh/explore/build-with-terminator/eda/gdsii/klayout-4-drc/test_data/benchmark_v1/manifest.json</a:t>
            </a:r>
          </a:p>
          <a:p xmlns:a="http://schemas.openxmlformats.org/drawingml/2006/main">
            <a:r>
              <a:t>/home/ankdesh/explore/build-with-terminator/eda/gdsii/klayout-4-drc/src/klayout_drc/benchmark/generator.py</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Each rule family has the same four coverage tiers</a:t>
            </a:r>
          </a:p>
          <a:p xmlns:a="http://schemas.openxmlformats.org/drawingml/2006/main">
            <a:r>
              <a:t>Units: entry counts</a:t>
            </a:r>
          </a:p>
          <a:p xmlns:a="http://schemas.openxmlformats.org/drawingml/2006/main">
            <a:r>
              <a:t>Encoding: Five rows with exact per-tier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examples are actual published inputs, not concept artwork: m1_w1_iso_04 is 15 nm by 100 nm; m1_a1_iso_01 is 18 nm square; m1_s1_iso_01 has two 40 nm by 80 nm wires separated by 10 nm; v1_w1_iso_01 is a 10 nm square. Each view has its own physical scale. The C1 manufacturing/coordinate grid is 0.25 nm. An area test is applied per component and uses square units. Via width produces markers in both dimensions for a small square. The spacing rule includes edge-length filtering; preserve separate components when net ownership is unknown.</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/home/ankdesh/explore/build-with-terminator/eda/gdsii/klayout-4-drc/test_data/benchmark_v1/manifest.json</a:t>
            </a:r>
          </a:p>
          <a:p xmlns:a="http://schemas.openxmlformats.org/drawingml/2006/main">
            <a:r>
              <a:t>/home/ankdesh/explore/build-with-terminator/eda/gdsii/klayout-4-drc/src/klayout_drc/benchmark/generator.py</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Dimensions are stored as exact integer geometry</a:t>
            </a:r>
          </a:p>
          <a:p xmlns:a="http://schemas.openxmlformats.org/drawingml/2006/main">
            <a:r>
              <a:t>Units: nm and nm²</a:t>
            </a:r>
          </a:p>
          <a:p xmlns:a="http://schemas.openxmlformats.org/drawingml/2006/main">
            <a:r>
              <a:t>Encoding: Four independent actual GDS insets with saved marker overlays.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order is important. The generator first constructs deterministic test inputs. Acceptance runs the checker on those inputs, then constructs synthetic legal component seeds. These are not recovered pristine source designs and are not generated repairs. Seeds retain layers and component counts. Exact Region additions and removals map the seed to the input; round-trip reconstruction is checked. Reference reports, input reports, canonical markers, preservation data and hashes are then recorded. The seed is private evaluator evidence and never sent to the model.</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/home/ankdesh/explore/build-with-terminator/eda/gdsii/klayout-4-drc/src/klayout_drc/benchmark/generator.py</a:t>
            </a:r>
          </a:p>
          <a:p xmlns:a="http://schemas.openxmlformats.org/drawingml/2006/main">
            <a:r>
              <a:t>/home/ankdesh/explore/build-with-terminator/eda/gdsii/klayout-4-drc/src/klayout_drc/benchmark/acceptance.py</a:t>
            </a:r>
          </a:p>
          <a:p xmlns:a="http://schemas.openxmlformats.org/drawingml/2006/main">
            <a:r>
              <a:t>/home/ankdesh/explore/build-with-terminator/eda/gdsii/klayout-4-drc/test_data/benchmark_v1/manifest.json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C1 legal seeds are constructed after the test inputs</a:t>
            </a:r>
          </a:p>
          <a:p xmlns:a="http://schemas.openxmlformats.org/drawingml/2006/main">
            <a:r>
              <a:t>Units: nm in layout insets</a:t>
            </a:r>
          </a:p>
          <a:p xmlns:a="http://schemas.openxmlformats.org/drawingml/2006/main">
            <a:r>
              <a:t>Encoding: Numbered chronological process and explicitly labeled private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pinned library is asap7sc7p5t_28_R_220121a.gds, SHA-256 f43d5b33df635cf9e66cbca66b6bdd05364f824d8040cd21528b9e12808b9263. Masters are chosen deterministically from sorted INV, BUF, NAND2, NOR2 and DFFHQN families, using group index zero or one. L1 places 10 or 15 real instances. L2 builds a REPEATED_BLOCK, places it in a 2 by 2 CLUSTER array, then places a base cluster, an R90 cluster, and an M0 reflected block. L2 contains 101 or 146 real cell instances. Including route and structure gives 103 or 148. The two actual full-layout exports have independent scales.</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/home/ankdesh/explore/build-with-terminator/eda/gdsii/klayout-4-drc/src/klayout_drc/benchmark/c2c3/generator.py</a:t>
            </a:r>
          </a:p>
          <a:p xmlns:a="http://schemas.openxmlformats.org/drawingml/2006/main">
            <a:r>
              <a:t>/home/ankdesh/explore/build-with-terminator/eda/gdsii/klayout-4-drc/test_data/benchmark_c2c3/manifest.json</a:t>
            </a:r>
          </a:p>
          <a:p xmlns:a="http://schemas.openxmlformats.org/drawingml/2006/main">
            <a:r>
              <a:t>/home/ankdesh/explore/build-with-terminator/eda/gdsii/klayout-4-drc/test_data/benchmark_c2c3/provenance/toolchain.json</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Repeated instances retain their source masters and transformations</a:t>
            </a:r>
          </a:p>
          <a:p xmlns:a="http://schemas.openxmlformats.org/drawingml/2006/main">
            <a:r>
              <a:t>Units: µm</a:t>
            </a:r>
          </a:p>
          <a:p xmlns:a="http://schemas.openxmlformats.org/drawingml/2006/main">
            <a:r>
              <a:t>Encoding: Native all-layer GDS views; independent scale bars.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RTL is the hardware description. SDC supplies timing constraints. DEF records physical placement and routing; ODB is the OpenROAD database. Routed sources use the pinned OpenROAD Flow Scripts revision 64939f3717ad7c694199ba04cb98924b98022868. Official container: openroad/orfs@sha256:6810dbf0e03dddbc89ed8c0a1e13cad09ce4c98d40c4ac0ab99fdc04b0676347. Flow inputs include RTL, timing constraints and ASAP7 technology collateral. Completed builds retain merged GDS, DEF, ODB, netlist, SDC, configuration, metrics, logs and per-artifact hashes. OpenROAD reports an unknown version string; actual binary hash and image digest identify it. Builds ran serially with two threads, no container network and a 60-minute limit. This deck reads retained bundles and does not repeat source builds.</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/home/ankdesh/explore/build-with-terminator/eda/gdsii/klayout-4-drc/docs/C2_C3_BENCHMARK.md</a:t>
            </a:r>
          </a:p>
          <a:p xmlns:a="http://schemas.openxmlformats.org/drawingml/2006/main">
            <a:r>
              <a:t>/home/ankdesh/explore/build-with-terminator/eda/gdsii/klayout-4-drc/test_data/benchmark_c2c3/provenance/README.md</a:t>
            </a:r>
          </a:p>
          <a:p xmlns:a="http://schemas.openxmlformats.org/drawingml/2006/main">
            <a:r>
              <a:t>/home/ankdesh/explore/build-with-terminator/eda/gdsii/klayout-4-drc/src/klayout_drc/benchmark/c2c3/toolchain.py</a:t>
            </a:r>
          </a:p>
          <a:p xmlns:a="http://schemas.openxmlformats.org/drawingml/2006/main">
            <a:r>
              <a:t>/home/ankdesh/explore/build-with-terminator/eda/gdsii/klayout-4-drc/test_data/benchmark_c2c3/provenance/toolchain.json</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The retained source bundle links final geometry to the build inputs</a:t>
            </a:r>
          </a:p>
          <a:p xmlns:a="http://schemas.openxmlformats.org/drawingml/2006/main">
            <a:r>
              <a:t>Units: process order, no geometric scale</a:t>
            </a:r>
          </a:p>
          <a:p xmlns:a="http://schemas.openxmlformats.org/drawingml/2006/main">
            <a:r>
              <a:t>Encoding: Source inputs → retained artifact bundle.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KLayout imports DEF wires with net properties. Explicit regular-NETS via statements supply ownership when properties are omitted; only supported unrotated via statements qualify. ODB net identities are exported with Tcl and checked against the DEF ownership. Geometry is matched against merged GDS. Power and clock routes stay protected; conservative clock classification uses signal types, terminals, CTS connections and names. Ambiguous ownership, geometry or clock classification is excluded or blocks preparation. Only routing via cells are expanded. Real standard-cell masters and placements remain hierarchical. Route partitioning must preserve exact flattened geometry. The inset shows the actual l3_g0_c0 top-coordinate inspection window.</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/home/ankdesh/explore/build-with-terminator/eda/gdsii/klayout-4-drc/src/klayout_drc/benchmark/c2c3/routes.py</a:t>
            </a:r>
          </a:p>
          <a:p xmlns:a="http://schemas.openxmlformats.org/drawingml/2006/main">
            <a:r>
              <a:t>/home/ankdesh/explore/build-with-terminator/eda/gdsii/klayout-4-drc/src/klayout_drc/benchmark/c2c3/routed_generator.py</a:t>
            </a:r>
          </a:p>
          <a:p xmlns:a="http://schemas.openxmlformats.org/drawingml/2006/main">
            <a:r>
              <a:t>/home/ankdesh/explore/build-with-terminator/eda/gdsii/klayout-4-drc/docs/C2_C3_BENCHMARK.md</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Only unambiguous signal routes become editable</a:t>
            </a:r>
          </a:p>
          <a:p xmlns:a="http://schemas.openxmlformats.org/drawingml/2006/main">
            <a:r>
              <a:t>Units: µm in inspection crop</a:t>
            </a:r>
          </a:p>
          <a:p xmlns:a="http://schemas.openxmlformats.org/drawingml/2006/main">
            <a:r>
              <a:t>Encoding: Three evidence sources plus actual context inset.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L1/L2 use real cells and preserve their hierarchy. L3 retains full routed GCD blocks from two utilization settings, with 721/976 total structural and cell instances. L4 uses UART with 8-bit/12-bit data widths and 1909/1978 total instances. Measured protected polygon intersections in repair windows rise from median 28.5 in L3 to 50 in L4. L5 chooses the highest local M2/M3 routing occupancy among three stress trials per source. Accepted L5 repair windows must exceed matched L4 occupancy by at least 25%; observed ratios are 1.275–2.716. The six L5 repair cases couple M2 width and V2 enclosure by M2 on the same landing. These images have independent scales; L1/L2 are full views and L3–L5 are labeled inspection crops.</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/home/ankdesh/explore/build-with-terminator/eda/gdsii/klayout-4-drc/test_data/benchmark_c2c3/manifest.json</a:t>
            </a:r>
          </a:p>
          <a:p xmlns:a="http://schemas.openxmlformats.org/drawingml/2006/main">
            <a:r>
              <a:t>/home/ankdesh/explore/build-with-terminator/eda/gdsii/klayout-4-drc/test_data/benchmark_c2c3/provenance/stress_selection.json</a:t>
            </a:r>
          </a:p>
          <a:p xmlns:a="http://schemas.openxmlformats.org/drawingml/2006/main">
            <a:r>
              <a:t>/home/ankdesh/explore/build-with-terminator/eda/gdsii/klayout-4-drc/test_data/benchmark_c2c3/provenance/obstacle_audit.json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Each level adds hierarchy, routing context, or coupled constraints</a:t>
            </a:r>
          </a:p>
          <a:p xmlns:a="http://schemas.openxmlformats.org/drawingml/2006/main">
            <a:r>
              <a:t>Units: µm, occupancy ratios</a:t>
            </a:r>
          </a:p>
          <a:p xmlns:a="http://schemas.openxmlformats.org/drawingml/2006/main">
            <a:r>
              <a:t>Encoding: Five independent scales. Local metal occupancy, not global placement density.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Unlike C1 synthetic seeds, C2/C3 constructs a legal local reference before a controlled mutation. Inputs and references are written and reread, then checked under asap7_c2c3_v1. Intended target markers must be observed. The hidden reference repair must pass edit policy and scored checks for repair cases. Read-only cases deliberately disallow the hidden reference change, so the expected action is unchanged geometry. Clean controls have zero native scored markers; public deck background can differ. Rejected mutation candidates stay in rejection logs. There are 30 repair, ten clean and ten read-only cases, with six/two/two per level. Grid is 1 nm, or four 0.25 nm DBUs.</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/home/ankdesh/explore/build-with-terminator/eda/gdsii/klayout-4-drc/src/klayout_drc/benchmark/c2c3/generator.py</a:t>
            </a:r>
          </a:p>
          <a:p xmlns:a="http://schemas.openxmlformats.org/drawingml/2006/main">
            <a:r>
              <a:t>/home/ankdesh/explore/build-with-terminator/eda/gdsii/klayout-4-drc/src/klayout_drc/benchmark/c2c3/routed_generator.py</a:t>
            </a:r>
          </a:p>
          <a:p xmlns:a="http://schemas.openxmlformats.org/drawingml/2006/main">
            <a:r>
              <a:t>/home/ankdesh/explore/build-with-terminator/eda/gdsii/klayout-4-drc/test_data/benchmark_c2c3/manifest.json</a:t>
            </a:r>
          </a:p>
          <a:p xmlns:a="http://schemas.openxmlformats.org/drawingml/2006/main">
            <a:r>
              <a:t>/home/ankdesh/explore/build-with-terminator/eda/gdsii/klayout-4-drc/docs/C2_C3_BENCHMARK.md</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C2/C3 starts with a legal local target before injecting the defect</a:t>
            </a:r>
          </a:p>
          <a:p xmlns:a="http://schemas.openxmlformats.org/drawingml/2006/main">
            <a:r>
              <a:t>Units: case counts; DBU and nm</a:t>
            </a:r>
          </a:p>
          <a:p xmlns:a="http://schemas.openxmlformats.org/drawingml/2006/main">
            <a:r>
              <a:t>Encoding: Qualification flow with separate kind denominators.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Concrete example l2_g1_c0: editable cell SIGNAL_ROUTE has local mask [-64,-64,1160,464] DBU and editable layers 19/0,20/0,21/0,30/0. Two fixed M2 anchor boxes are [0,0,96,24] and [0,376,96,400] DBU. The top inspection window is [-0.188,0.210,0.238,0.810] micrometers. A recursive iterator applies accumulated hierarchy transforms to inspect top coordinates. Candidate edits must target the named local route cell; flattening into protected masters is forbidden. All other contents, properties and instance definitions are immutable. New same-layer protected overlaps and route deletion are rejected. An empty editable-cell map requires an unchanged output.</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/home/ankdesh/explore/build-with-terminator/eda/gdsii/klayout-4-drc/test_data/benchmark_c2c3/manifest.json</a:t>
            </a:r>
          </a:p>
          <a:p xmlns:a="http://schemas.openxmlformats.org/drawingml/2006/main">
            <a:r>
              <a:t>/home/ankdesh/explore/build-with-terminator/eda/gdsii/klayout-4-drc/src/klayout_drc/edit_policy.py</a:t>
            </a:r>
          </a:p>
          <a:p xmlns:a="http://schemas.openxmlformats.org/drawingml/2006/main">
            <a:r>
              <a:t>/home/ankdesh/explore/build-with-terminator/eda/gdsii/klayout-4-drc/src/klayout_drc/benchmark/c2c3/generator.py</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A spatial mask alone does not grant permission to edit every shape inside it</a:t>
            </a:r>
          </a:p>
          <a:p xmlns:a="http://schemas.openxmlformats.org/drawingml/2006/main">
            <a:r>
              <a:t>Units: local DBU; top µm</a:t>
            </a:r>
          </a:p>
          <a:p xmlns:a="http://schemas.openxmlformats.org/drawingml/2006/main">
            <a:r>
              <a:t>Encoding: Actual top crop; public local policy values. Teal is spatial permission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request contains repair instructions, active technology/layer facts, the complete verified API reference, current layout geometry, markers, deck expressions and case edit policy. C2/C3 adds local and top coordinates, instance paths and transforms. The oracle directory is not provided to either the model or candidate worker. This keeps hidden references, mutation recipes and expected actions evaluator-only. If required geometry exceeds 1024 shapes or 120000 context characters, the case is blocked instead of truncated. This deck uses private evidence to explain dataset qualification, not as model input. C1 request identity was verified for all 100 cases after excluding the model field.</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/home/ankdesh/explore/build-with-terminator/eda/gdsii/klayout-4-drc/src/klayout_drc/edit_policy.py</a:t>
            </a:r>
          </a:p>
          <a:p xmlns:a="http://schemas.openxmlformats.org/drawingml/2006/main">
            <a:r>
              <a:t>/home/ankdesh/explore/build-with-terminator/eda/gdsii/klayout-4-drc/docs/C2_C3_BENCHMARK.md</a:t>
            </a:r>
          </a:p>
          <a:p xmlns:a="http://schemas.openxmlformats.org/drawingml/2006/main">
            <a:r>
              <a:t>/home/ankdesh/explore/build-with-terminator/eda/gdsii/klayout-4-drc/knowledge/klayout_api_patterns.md</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Public task context is separate from private evaluator evidence</a:t>
            </a:r>
          </a:p>
          <a:p xmlns:a="http://schemas.openxmlformats.org/drawingml/2006/main">
            <a:r>
              <a:t>Units: information boundary</a:t>
            </a:r>
          </a:p>
          <a:p xmlns:a="http://schemas.openxmlformats.org/drawingml/2006/main">
            <a:r>
              <a:t>Encoding: Two columns separated by explicit public/private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dispatch, the pipeline verifies the input and runs trusted API reference checks in the candidate Python environment. Fresh baseline DRC must match accepted evidence. The model gets one request and must return python_script and rationale. The script executes in Bubblewrap, then layout and preservation/edit-policy validation run. Only valid candidates proceed to after-DRC and marker comparison. The report keeps failures and missing stages explicit. There is no repair retry loop or automatic model correction. The C1 comparison used the same frozen Bedrock source for OpenAI rather than resetting live development files. C2/C3 campaign continuation sent only ten previously unrequested L5 cases; it did not retry earlier failures.</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/home/ankdesh/explore/build-with-terminator/eda/gdsii/klayout-4-drc/reports/runs/c1_bedrock_all100_strict_api_20261027/frozen_source.json</a:t>
            </a:r>
          </a:p>
          <a:p xmlns:a="http://schemas.openxmlformats.org/drawingml/2006/main">
            <a:r>
              <a:t>/home/ankdesh/explore/build-with-terminator/eda/gdsii/klayout-4-drc/src/klayout_drc/benchmark/c2c3/evaluator.py</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Validation runs before after-DRC; failures remain recorded</a:t>
            </a:r>
          </a:p>
          <a:p xmlns:a="http://schemas.openxmlformats.org/drawingml/2006/main">
            <a:r>
              <a:t>Units: process order</a:t>
            </a:r>
          </a:p>
          <a:p xmlns:a="http://schemas.openxmlformats.org/drawingml/2006/main">
            <a:r>
              <a:t>Encoding: Numbered single attempt, no return arrows.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tested reference targets klayout.db 0.30.8. Preflight checks execute 63 supported call contracts and 12 example groups on synthetic geometry, asserting values and returned geometry rather than member existence alone. The complete rendered reference is included once. It covers DBU, areas, grid rounding, properties, overloads, transformations, hierarchy, safe editing and known failure replacements. Digest: ad5b7aab61cfeb241a0bbf8188485f49a2629056f325a56e4a2f6593ea8dbac5. The tested reference contains 16169 characters. Region.each()/each_merged() yields polygon values; Shape.polygon is a property on a handle; width_check belongs to Region. Ordinary Python iterators lack at_end(), while a RecursiveShapeIterator supports it. Trusted reference failure stops model dispatch. Guidance cannot guarantee that a model follows it.</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/home/ankdesh/explore/build-with-terminator/eda/gdsii/klayout-4-drc/knowledge/klayout_api_patterns.md</a:t>
            </a:r>
          </a:p>
          <a:p xmlns:a="http://schemas.openxmlformats.org/drawingml/2006/main">
            <a:r>
              <a:t>/home/ankdesh/explore/build-with-terminator/eda/gdsii/klayout-4-drc/reports/runs/c1_bedrock_all100_strict_api_20261027/frozen_source.json</a:t>
            </a:r>
          </a:p>
          <a:p xmlns:a="http://schemas.openxmlformats.org/drawingml/2006/main">
            <a:r>
              <a:t>/home/ankdesh/explore/build-with-terminator/eda/gdsii/klayout-4-drc/reports/runs/c1_openai_all100_strict_api_20261028/runs/m1_w1_iso_04_20261028_065749_9351fb/api_reference_check.json</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Reference checks can block dispatch, but model scripts still need execution</a:t>
            </a:r>
          </a:p>
          <a:p xmlns:a="http://schemas.openxmlformats.org/drawingml/2006/main">
            <a:r>
              <a:t>Units: DBU thresholds for Region checks</a:t>
            </a:r>
          </a:p>
          <a:p xmlns:a="http://schemas.openxmlformats.org/drawingml/2006/main">
            <a:r>
              <a:t>Encoding: Short exact code forms; properties distinguished from method 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 applies its five-family curated profile and preservation checks, including layer and component structure. C2/C3 uses eleven qualified checks; nine occur as injected target families, with M2 spacing and V2/M3 enclosure as additional guards. A repair must complete, pass policy, remove all targets and introduce no new or ambiguous scored markers relative to baseline. Clean and read-only controls require a successfully written unchanged layout; a script error earns no restraint credit. Read-only controls retain intentional defects. Public full-deck audit is separate, diagnostic only, and has a 600-second limit; scoped scoring uses 120 seconds. Native public markers must not be confused with injected targets. Research checker qualification is not foundry signoff.</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/home/ankdesh/explore/build-with-terminator/eda/gdsii/klayout-4-drc/src/klayout_drc/benchmark/c2c3/evaluator.py</a:t>
            </a:r>
          </a:p>
          <a:p xmlns:a="http://schemas.openxmlformats.org/drawingml/2006/main">
            <a:r>
              <a:t>/home/ankdesh/explore/build-with-terminator/eda/gdsii/klayout-4-drc/src/klayout_drc/edit_policy.py</a:t>
            </a:r>
          </a:p>
          <a:p xmlns:a="http://schemas.openxmlformats.org/drawingml/2006/main">
            <a:r>
              <a:t>/home/ankdesh/explore/build-with-terminator/eda/gdsii/klayout-4-drc/docs/C2_C3_BENCHMARK.md</a:t>
            </a:r>
          </a:p>
          <a:p xmlns:a="http://schemas.openxmlformats.org/drawingml/2006/main">
            <a:r>
              <a:t>/home/ankdesh/explore/build-with-terminator/eda/gdsii/klayout-4-drc/reports/runs/c1_bedrock_all100_strict_api_20261027/frozen_source.json</a:t>
            </a:r>
          </a:p>
          <a:p xmlns:a="http://schemas.openxmlformats.org/drawingml/2006/main">
            <a:r>
              <a:t>/home/ankdesh/explore/build-with-terminator/eda/gdsii/klayout-4-drc/reports/runs/c2c3_v1_agent/frozen_source.json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Missing after-DRC is unknown; it never counts as zero markers</a:t>
            </a:r>
          </a:p>
          <a:p xmlns:a="http://schemas.openxmlformats.org/drawingml/2006/main">
            <a:r>
              <a:t>Units: scored markers; acceptance rules</a:t>
            </a:r>
          </a:p>
          <a:p xmlns:a="http://schemas.openxmlformats.org/drawingml/2006/main">
            <a:r>
              <a:t>Encoding: Parallel benchmark gates with separate audit lane.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case m1_w1_iso_04 is the generated candidate, not the hidden legal reference. The saved input is one rectangular M1 polygon 15 nm wide and 100 nm long; the saved output is 18 nm by 100 nm. Rectangle checks precede bounding-box width measurement. Input and output use exactly the same physical camera, preserving scale. Saved before/after reports have one and zero scoped markers. Added area is 0.0003 square micrometers, equal to 300 square nanometers; removed area is zero. Validation is geometry-only and preserved the one component. Outcome clean_success; marker matching records one resolved, zero introduced and zero ambiguous. This does not prove net connectivity or timing.</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/home/ankdesh/explore/build-with-terminator/eda/gdsii/klayout-4-drc/reports/runs/c1_openai_all100_strict_api_20261028/runs/m1_w1_iso_04_20261028_065749_9351fb/input.gds</a:t>
            </a:r>
          </a:p>
          <a:p xmlns:a="http://schemas.openxmlformats.org/drawingml/2006/main">
            <a:r>
              <a:t>/home/ankdesh/explore/build-with-terminator/eda/gdsii/klayout-4-drc/reports/runs/c1_openai_all100_strict_api_20261028/runs/m1_w1_iso_04_20261028_065749_9351fb/patched.gds</a:t>
            </a:r>
          </a:p>
          <a:p xmlns:a="http://schemas.openxmlformats.org/drawingml/2006/main">
            <a:r>
              <a:t>/home/ankdesh/explore/build-with-terminator/eda/gdsii/klayout-4-drc/reports/runs/c1_openai_all100_strict_api_20261028/runs/m1_w1_iso_04_20261028_065749_9351fb/before.lyrdb</a:t>
            </a:r>
          </a:p>
          <a:p xmlns:a="http://schemas.openxmlformats.org/drawingml/2006/main">
            <a:r>
              <a:t>/home/ankdesh/explore/build-with-terminator/eda/gdsii/klayout-4-drc/reports/runs/c1_openai_all100_strict_api_20261028/runs/m1_w1_iso_04_20261028_065749_9351fb/after.lyrdb</a:t>
            </a:r>
          </a:p>
          <a:p xmlns:a="http://schemas.openxmlformats.org/drawingml/2006/main">
            <a:r>
              <a:t>/home/ankdesh/explore/build-with-terminator/eda/gdsii/klayout-4-drc/reports/runs/c1_openai_all100_strict_api_20261028/runs/m1_w1_iso_04_20261028_065749_9351fb/benchmark_result.json</a:t>
            </a:r>
          </a:p>
          <a:p xmlns:a="http://schemas.openxmlformats.org/drawingml/2006/main">
            <a:r>
              <a:t>/home/ankdesh/explore/build-with-terminator/eda/gdsii/klayout-4-drc/reports/runs/c1_openai_all100_strict_api_20261028/runs/m1_w1_iso_04_20261028_065749_9351fb/candidate_fix.py</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Actual C1 input15nm wire and accepted18nm output, one marker resolved.</a:t>
            </a:r>
          </a:p>
          <a:p xmlns:a="http://schemas.openxmlformats.org/drawingml/2006/main">
            <a:r>
              <a:t>Units: nm, nm²</a:t>
            </a:r>
          </a:p>
          <a:p xmlns:a="http://schemas.openxmlformats.org/drawingml/2006/main">
            <a:r>
              <a:t>Encoding: Matched camera GDS input/output with actual saved checker edges.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Bedrock agent produced a saved patched.gds for l3_g0_c0. Its Python execution completed with exit code zero, but validation rejected it: Protected master cell gcd contents changed. Only EDIT_ROUTE_0 and its declared layers, local spatial mask and fixed anchor are editable. Net owner is _000_. One input M2.W.1 marker exists. No after.lyrdb was produced, total_after is null and marker comparison is null. Therefore this is an invalid patch with unknown after-DRC, not a checker-clean repair or zero-marker output. The full-layout overview and context are retained source views. Input crop and rejected candidate crop share the exact same camera.</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/home/ankdesh/explore/build-with-terminator/eda/gdsii/klayout-4-drc/reports/runs/c2c3_v1_agent/runs/l3_g0_c0_20261028_065423_ed44ed/input.gds</a:t>
            </a:r>
          </a:p>
          <a:p xmlns:a="http://schemas.openxmlformats.org/drawingml/2006/main">
            <a:r>
              <a:t>/home/ankdesh/explore/build-with-terminator/eda/gdsii/klayout-4-drc/reports/runs/c2c3_v1_agent/runs/l3_g0_c0_20261028_065423_ed44ed/patched.gds</a:t>
            </a:r>
          </a:p>
          <a:p xmlns:a="http://schemas.openxmlformats.org/drawingml/2006/main">
            <a:r>
              <a:t>/home/ankdesh/explore/build-with-terminator/eda/gdsii/klayout-4-drc/reports/runs/c2c3_v1_agent/runs/l3_g0_c0_20261028_065423_ed44ed/before.lyrdb</a:t>
            </a:r>
          </a:p>
          <a:p xmlns:a="http://schemas.openxmlformats.org/drawingml/2006/main">
            <a:r>
              <a:t>/home/ankdesh/explore/build-with-terminator/eda/gdsii/klayout-4-drc/reports/runs/c2c3_v1_agent/runs/l3_g0_c0_20261028_065423_ed44ed/results.json</a:t>
            </a:r>
          </a:p>
          <a:p xmlns:a="http://schemas.openxmlformats.org/drawingml/2006/main">
            <a:r>
              <a:t>/home/ankdesh/explore/build-with-terminator/eda/gdsii/klayout-4-drc/reports/runs/c2c3_v1_agent/runs/l3_g0_c0_20261028_065423_ed44ed/edit_policy.json</a:t>
            </a:r>
          </a:p>
          <a:p xmlns:a="http://schemas.openxmlformats.org/drawingml/2006/main">
            <a:r>
              <a:t>/home/ankdesh/explore/build-with-terminator/eda/gdsii/klayout-4-drc/reports/runs/c2c3_v1_agent/runs/l3_g0_c0_20261028_065423_ed44ed/candidate_fix.py</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Routed GCD context and rejected output, protected gcd cell changed, afterDRC unavailable.</a:t>
            </a:r>
          </a:p>
          <a:p xmlns:a="http://schemas.openxmlformats.org/drawingml/2006/main">
            <a:r>
              <a:t>Units: µm; local DBU policy</a:t>
            </a:r>
          </a:p>
          <a:p xmlns:a="http://schemas.openxmlformats.org/drawingml/2006/main">
            <a:r>
              <a:t>Encoding: Full source plus matched input/attempt inspection crops; explicit unavailable after-DRC.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gpt-6-luna repaired 72 of78 dirty inputs, 92.3%, versus Bedrock qwen.qwen3-coder-next 37 of78, 47.4%. Clean controls passed unchanged:22/22 versus19/22. Counts and percentages are calculated from comparison.json. C1 batches took1558.872711553 and550.744367333 seconds, respectively, including model generation and local checks. Reviewed KLayout binding failures are1 and15; Bedrock also has2 other Python value-type failures, which must stay separate. Both ran the same frozen pipeline and100 saved request payloads match after excluding model. Explicit temperature, case order, dataset and deck match, but model-specific reasoning and sampling defaults can differ. The result does not isolate endpoint effects. No retries or corrected substitutions were used.</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/home/ankdesh/explore/build-with-terminator/eda/gdsii/klayout-4-drc/reports/runs/c1_openai_all100_strict_api_20261028/comparison.json</a:t>
            </a:r>
          </a:p>
          <a:p xmlns:a="http://schemas.openxmlformats.org/drawingml/2006/main">
            <a:r>
              <a:t>/home/ankdesh/explore/build-with-terminator/eda/gdsii/klayout-4-drc/reports/runs/c1_openai_all100_strict_api_20261028/verification.json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C1 OpenAI repairs72/78, controls22/22; Bedrock37/78,19/22; runtime26.0versus9.2minutes.</a:t>
            </a:r>
          </a:p>
          <a:p xmlns:a="http://schemas.openxmlformats.org/drawingml/2006/main">
            <a:r>
              <a:t>Units: cases, %, minutes</a:t>
            </a:r>
          </a:p>
          <a:p xmlns:a="http://schemas.openxmlformats.org/drawingml/2006/main">
            <a:r>
              <a:t>Encoding: Linear0–100% bars, separate78/22 denominators, direct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rows use dirty-case denominators only: M1.A.1 is14/15 OpenAI versus11/15 Bedrock; M1.S.1 is12/15 versus2/15; M1.W.1 is15/16 versus9/16; M2.W.1 is15/16 versus6/16; V1.W.1 is16/16 versus9/16. Per-rule percentages use these denominators, not20 total entries. Remaining OpenAI failures: m1_s1_iso_02,m1_s1_iso_05,m1_s1_int_03 left spacing defects unchanged; m1_w1_int_03 and m1_a1_iso_04 timed out; m2_w1_iso_03 called at_end on an ordinary iterator. Runtime ratio1558.872711553/550.744367333 is2.83048, displayed2.83. Single attempts provide no consistency estimate. These are development results, not held-out generalization evidence.</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/home/ankdesh/explore/build-with-terminator/eda/gdsii/klayout-4-drc/reports/runs/c1_openai_all100_strict_api_20261028/comparison.json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OpenAI improved repair counts in every family; spacing still left three cases</a:t>
            </a:r>
          </a:p>
          <a:p xmlns:a="http://schemas.openxmlformats.org/drawingml/2006/main">
            <a:r>
              <a:t>Units: repair cases / dirty cases, %</a:t>
            </a:r>
          </a:p>
          <a:p xmlns:a="http://schemas.openxmlformats.org/drawingml/2006/main">
            <a:r>
              <a:t>Encoding: Paired bars from0to100 with exact counts. Runtime separately annotated.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C2/C3 uses a separate scope with30 repair,10 clean and10 read-only cases. The Bedrock agent repaired0/30, preserved9/10 clean and4/10 read-only controls. The existing heuristic repaired0/30 and preserved4/10 in each control group. The no-change baseline repaired0/30 and preserved10/10 in each control group. Zero repair is an observed result, not missing measurement. A no-change result on a read-only case is success despite retaining its intentional defect. Baselines are reported separately. Existing heuristic writes can violate hierarchical route-cell policies;12 valid C2 repair outputs were unchanged. Methods shared the host concurrently, so no runtime ranking is shown. OpenAI was not evaluated on C2/C3.</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/home/ankdesh/explore/build-with-terminator/eda/gdsii/klayout-4-drc/docs/reports/c2_c3_benchmark/agent/summary.json</a:t>
            </a:r>
          </a:p>
          <a:p xmlns:a="http://schemas.openxmlformats.org/drawingml/2006/main">
            <a:r>
              <a:t>/home/ankdesh/explore/build-with-terminator/eda/gdsii/klayout-4-drc/docs/reports/c2_c3_benchmark/heuristic/summary.json</a:t>
            </a:r>
          </a:p>
          <a:p xmlns:a="http://schemas.openxmlformats.org/drawingml/2006/main">
            <a:r>
              <a:t>/home/ankdesh/explore/build-with-terminator/eda/gdsii/klayout-4-drc/docs/reports/c2_c3_benchmark/no_change/summary.json</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All tested methods repaired 0/30; control restraint differs</a:t>
            </a:r>
          </a:p>
          <a:p xmlns:a="http://schemas.openxmlformats.org/drawingml/2006/main">
            <a:r>
              <a:t>Units: successes /30 or /10, %</a:t>
            </a:r>
          </a:p>
          <a:p xmlns:a="http://schemas.openxmlformats.org/drawingml/2006/main">
            <a:r>
              <a:t>Encoding: Three independent denominator groups, common0to100% scale; zero explicitly marked.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 source accounting categories sum to50 agent outcomes:13 passed control restraint,12 Python script failures,11 unchanged repair outputs,7 invalid response-field failures,6 edit-policy violations and1 transport timeout. A local review of the saved diagnostics splits the12 script failures into9 KLayout binding errors and3 other Python errors: a candidate-raised ValueError for undefined layers, an IndentationError and a float.to_integral_value AttributeError. The9 binding errors address PolygonWithProperties.resize, Box.sized, Layout.layout_io, Layout.layer_info, Layout.begin_shapes_rec, PolygonWithProperties.width_check, PolygonWithProperties.value, klayout.db.Edge_pair and Region.enclosed. The plotted seven categories preserve the source aggregate totals. C1 separately reports reviewed binding versus other Python type failures. There were50 Bedrock request attempts,49 parsed responses and no retries. An inherited top-cell replacement instruction can conflict with specific editable-route policy; this frozen campaign tests the whole configuration, not isolated model reasoning. OpenAI was not evaluated on C2/C3. Public-deck audits are diagnostic and missing after-reports remain unknown. References are qualification evidence, not generated repairs. All results are geometry-only; net connectivity, timing, foundry signoff, repeatability and broad generalization remain unverified.</a:t>
            </a:r>
          </a:p>
          <a:p xmlns:a="http://schemas.openxmlformats.org/drawingml/2006/main">
            <a:r>
              <a:t/>
            </a:r>
          </a:p>
          <a:p xmlns:a="http://schemas.openxmlformats.org/drawingml/2006/main">
            <a:r>
              <a:t>Exact source references:</a:t>
            </a:r>
          </a:p>
          <a:p xmlns:a="http://schemas.openxmlformats.org/drawingml/2006/main">
            <a:r>
              <a:t>/home/ankdesh/explore/build-with-terminator/eda/gdsii/klayout-4-drc/docs/reports/c2_c3_benchmark/accounting.json</a:t>
            </a:r>
          </a:p>
          <a:p xmlns:a="http://schemas.openxmlformats.org/drawingml/2006/main">
            <a:r>
              <a:t>/home/ankdesh/explore/build-with-terminator/eda/gdsii/klayout-4-drc/docs/reports/c2_c3_benchmark/failure_analysis.csv</a:t>
            </a:r>
          </a:p>
          <a:p xmlns:a="http://schemas.openxmlformats.org/drawingml/2006/main">
            <a:r>
              <a:t>/home/ankdesh/explore/build-with-terminator/eda/gdsii/klayout-4-drc/docs/reports/c2_c3_benchmark/agent/summary.json</a:t>
            </a:r>
          </a:p>
          <a:p xmlns:a="http://schemas.openxmlformats.org/drawingml/2006/main">
            <a:r>
              <a:t>/home/ankdesh/explore/build-with-terminator/eda/gdsii/klayout-4-drc/docs/reports/c2_c3_benchmark_report.md</a:t>
            </a:r>
          </a:p>
          <a:p xmlns:a="http://schemas.openxmlformats.org/drawingml/2006/main">
            <a:r>
              <a:t/>
            </a:r>
          </a:p>
          <a:p xmlns:a="http://schemas.openxmlformats.org/drawingml/2006/main">
            <a:r>
              <a:t>Layer colors in native geometry: M1 blue(19/0), M2 amber(20/0), V1 purple(21/0), V2 rose(25/0), M3 green(30/0). Red overlays are saved scored markers, teal outlines are spatial permission masks, cyan outlines locate top inspection windows. Colors have no net identity meaning.</a:t>
            </a:r>
          </a:p>
          <a:p xmlns:a="http://schemas.openxmlformats.org/drawingml/2006/main">
            <a:r>
              <a:t/>
            </a:r>
          </a:p>
          <a:p xmlns:a="http://schemas.openxmlformats.org/drawingml/2006/main">
            <a:r>
              <a:t>Figure description: Better API guidance does not remove script, policy, or geometry failures</a:t>
            </a:r>
          </a:p>
          <a:p xmlns:a="http://schemas.openxmlformats.org/drawingml/2006/main">
            <a:r>
              <a:t>Units: mutually exclusive agent outcome counts</a:t>
            </a:r>
          </a:p>
          <a:p xmlns:a="http://schemas.openxmlformats.org/drawingml/2006/main">
            <a:r>
              <a:t>Encoding: Horizontal bars fromzero; exact counts13+9+3+11+7+6+1=50. Traceback review splits the12 Python crashes.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ca84542a3e49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8bb662a8be48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36a60f55634dc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8241e04aa94f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c6f8ee192f45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dff182133974b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A32727-8DD9-42BF-B9ED-5563089158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EE5E8BF-654F-4A0F-816A-B5C2730428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A07D1A2-01AA-4DF4-BE52-E28D1C612CB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7BE518-69A1-40D1-BE61-8B1B9A91CF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67B585-F5A4-41D7-9E42-F36A93C7A9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CD6E27-27CE-4E46-AFF2-4E6C51C11F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9045C4-DB5B-45E6-857F-4BB6A86782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5DC5DE-2A50-4F06-A4BA-19AED7A2C6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D51AA8-2A2E-4BA2-A01A-5B0BA656A6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36BEF9-797E-47E4-B250-4BC19E4494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e1e523f0d44ae2" /><Relationship Type="http://schemas.openxmlformats.org/officeDocument/2006/relationships/slideLayout" Target="/ppt/slideLayouts/slideLayout1.xml" Id="Ra39d4c76699a482c" /><Relationship Type="http://schemas.openxmlformats.org/officeDocument/2006/relationships/slideLayout" Target="/ppt/slideLayouts/slideLayout2.xml" Id="Rec17afe31cd44394" /><Relationship Type="http://schemas.openxmlformats.org/officeDocument/2006/relationships/slideLayout" Target="/ppt/slideLayouts/slideLayout3.xml" Id="R2afc947162ce47e1" /><Relationship Type="http://schemas.openxmlformats.org/officeDocument/2006/relationships/slideLayout" Target="/ppt/slideLayouts/slideLayout4.xml" Id="Rca6fa06fd7fa4dd7" /><Relationship Type="http://schemas.openxmlformats.org/officeDocument/2006/relationships/slideLayout" Target="/ppt/slideLayouts/slideLayout5.xml" Id="R6fc7ea18e52b4d05" /><Relationship Type="http://schemas.openxmlformats.org/officeDocument/2006/relationships/slideLayout" Target="/ppt/slideLayouts/slideLayout6.xml" Id="R53c9317c921d4c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9d4c76699a482c"/>
    <p:sldLayoutId xmlns:r="http://schemas.openxmlformats.org/officeDocument/2006/relationships" id="2147483650" r:id="Rec17afe31cd44394"/>
    <p:sldLayoutId xmlns:r="http://schemas.openxmlformats.org/officeDocument/2006/relationships" id="2147483651" r:id="R2afc947162ce47e1"/>
    <p:sldLayoutId xmlns:r="http://schemas.openxmlformats.org/officeDocument/2006/relationships" id="2147483652" r:id="Rca6fa06fd7fa4dd7"/>
    <p:sldLayoutId xmlns:r="http://schemas.openxmlformats.org/officeDocument/2006/relationships" id="2147483653" r:id="R6fc7ea18e52b4d05"/>
    <p:sldLayoutId xmlns:r="http://schemas.openxmlformats.org/officeDocument/2006/relationships" id="2147483654" r:id="R53c9317c921d4c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7d03335501b4e76" /><Relationship Type="http://schemas.openxmlformats.org/officeDocument/2006/relationships/image" Target="/ppt/media/image.png" Id="R8871ef3dc97d49ce" /><Relationship Type="http://schemas.openxmlformats.org/officeDocument/2006/relationships/notesSlide" Target="/ppt/notesSlides/notesSlide1.xml" Id="R8f77e6db3ee54b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e234eb227a74f80" /><Relationship Type="http://schemas.openxmlformats.org/officeDocument/2006/relationships/image" Target="/ppt/media/image2.png" Id="R3d1e07261fd74c76" /><Relationship Type="http://schemas.openxmlformats.org/officeDocument/2006/relationships/notesSlide" Target="/ppt/notesSlides/notesSlide2.xml" Id="R0b7badff03b349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eb665c2d5245f6" /><Relationship Type="http://schemas.openxmlformats.org/officeDocument/2006/relationships/image" Target="/ppt/media/image3.png" Id="R60737e41c7764304" /><Relationship Type="http://schemas.openxmlformats.org/officeDocument/2006/relationships/notesSlide" Target="/ppt/notesSlides/notesSlide3.xml" Id="R49d26fd3ae9e49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538d69f3a94c81" /><Relationship Type="http://schemas.openxmlformats.org/officeDocument/2006/relationships/image" Target="/ppt/media/image4.png" Id="Rd8b2f461cf4a4a82" /><Relationship Type="http://schemas.openxmlformats.org/officeDocument/2006/relationships/notesSlide" Target="/ppt/notesSlides/notesSlide4.xml" Id="Rd55a0eb3813547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dad7c98c7bb4cb4" /><Relationship Type="http://schemas.openxmlformats.org/officeDocument/2006/relationships/image" Target="/ppt/media/image5.png" Id="R96e94c7638ec434a" /><Relationship Type="http://schemas.openxmlformats.org/officeDocument/2006/relationships/notesSlide" Target="/ppt/notesSlides/notesSlide5.xml" Id="Re5b68f77398e42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25cb921ce40454f" /><Relationship Type="http://schemas.openxmlformats.org/officeDocument/2006/relationships/image" Target="/ppt/media/image6.png" Id="R2fb33e5fae5245fc" /><Relationship Type="http://schemas.openxmlformats.org/officeDocument/2006/relationships/notesSlide" Target="/ppt/notesSlides/notesSlide6.xml" Id="R3b0a11451eac4d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4c77ed9944e4622" /><Relationship Type="http://schemas.openxmlformats.org/officeDocument/2006/relationships/image" Target="/ppt/media/image7.png" Id="R8ab40b47c9b6429e" /><Relationship Type="http://schemas.openxmlformats.org/officeDocument/2006/relationships/notesSlide" Target="/ppt/notesSlides/notesSlide7.xml" Id="R2a1a30f4cace4d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a3203e0d97f4fda" /><Relationship Type="http://schemas.openxmlformats.org/officeDocument/2006/relationships/image" Target="/ppt/media/image8.png" Id="R461100d486e24fbb" /><Relationship Type="http://schemas.openxmlformats.org/officeDocument/2006/relationships/notesSlide" Target="/ppt/notesSlides/notesSlide8.xml" Id="Re0dc3d9654bc42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91d3c90f0c4320" /><Relationship Type="http://schemas.openxmlformats.org/officeDocument/2006/relationships/image" Target="/ppt/media/image9.png" Id="R07bcd9a122564efe" /><Relationship Type="http://schemas.openxmlformats.org/officeDocument/2006/relationships/notesSlide" Target="/ppt/notesSlides/notesSlide9.xml" Id="R12b67031c90f40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a1f8bbc8ff4343" /><Relationship Type="http://schemas.openxmlformats.org/officeDocument/2006/relationships/image" Target="/ppt/media/image10.png" Id="R7926444a103a40fc" /><Relationship Type="http://schemas.openxmlformats.org/officeDocument/2006/relationships/notesSlide" Target="/ppt/notesSlides/notesSlide10.xml" Id="R01c64983c0794f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58cf19ae3c4b08" /><Relationship Type="http://schemas.openxmlformats.org/officeDocument/2006/relationships/image" Target="/ppt/media/image11.png" Id="R93af516d60764931" /><Relationship Type="http://schemas.openxmlformats.org/officeDocument/2006/relationships/notesSlide" Target="/ppt/notesSlides/notesSlide11.xml" Id="Rae3192f929f44f3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26e5856ade947eb" /><Relationship Type="http://schemas.openxmlformats.org/officeDocument/2006/relationships/image" Target="/ppt/media/image12.png" Id="R64e159f7ae174dde" /><Relationship Type="http://schemas.openxmlformats.org/officeDocument/2006/relationships/notesSlide" Target="/ppt/notesSlides/notesSlide12.xml" Id="Rbce6fc97d79140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9cc9da7377b4d5c" /><Relationship Type="http://schemas.openxmlformats.org/officeDocument/2006/relationships/image" Target="/ppt/media/image13.png" Id="R349783e8c15f408a" /><Relationship Type="http://schemas.openxmlformats.org/officeDocument/2006/relationships/notesSlide" Target="/ppt/notesSlides/notesSlide13.xml" Id="R8884adfc4b0d44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05dbee4cf434cbd" /><Relationship Type="http://schemas.openxmlformats.org/officeDocument/2006/relationships/image" Target="/ppt/media/image14.png" Id="R48c05d03299f41fb" /><Relationship Type="http://schemas.openxmlformats.org/officeDocument/2006/relationships/notesSlide" Target="/ppt/notesSlides/notesSlide14.xml" Id="Rc4cf47b040134f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6317db70a31499f" /><Relationship Type="http://schemas.openxmlformats.org/officeDocument/2006/relationships/image" Target="/ppt/media/image15.png" Id="R5cf66dde5eb045c9" /><Relationship Type="http://schemas.openxmlformats.org/officeDocument/2006/relationships/notesSlide" Target="/ppt/notesSlides/notesSlide15.xml" Id="R15b78f92f7f84a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9a9d4b443ca49d8" /><Relationship Type="http://schemas.openxmlformats.org/officeDocument/2006/relationships/image" Target="/ppt/media/image16.png" Id="R1fae8adf879f40e7" /><Relationship Type="http://schemas.openxmlformats.org/officeDocument/2006/relationships/notesSlide" Target="/ppt/notesSlides/notesSlide16.xml" Id="R17450390507b4b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53da98e84c74709" /><Relationship Type="http://schemas.openxmlformats.org/officeDocument/2006/relationships/image" Target="/ppt/media/image17.png" Id="R97194dad292940ae" /><Relationship Type="http://schemas.openxmlformats.org/officeDocument/2006/relationships/notesSlide" Target="/ppt/notesSlides/notesSlide17.xml" Id="Rf8acca444e7747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3f1b427dc2849e1" /><Relationship Type="http://schemas.openxmlformats.org/officeDocument/2006/relationships/image" Target="/ppt/media/image18.png" Id="R1534633725014686" /><Relationship Type="http://schemas.openxmlformats.org/officeDocument/2006/relationships/notesSlide" Target="/ppt/notesSlides/notesSlide18.xml" Id="R3855793dbefc444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200a30e09074040" /><Relationship Type="http://schemas.openxmlformats.org/officeDocument/2006/relationships/image" Target="/ppt/media/image19.png" Id="R99fef45c8663463f" /><Relationship Type="http://schemas.openxmlformats.org/officeDocument/2006/relationships/notesSlide" Target="/ppt/notesSlides/notesSlide19.xml" Id="R4773bc9c729448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122ff0f4ed54f54" /><Relationship Type="http://schemas.openxmlformats.org/officeDocument/2006/relationships/image" Target="/ppt/media/image20.png" Id="R85088e24a69c45ba" /><Relationship Type="http://schemas.openxmlformats.org/officeDocument/2006/relationships/notesSlide" Target="/ppt/notesSlides/notesSlide20.xml" Id="R21db96d2abf241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2d40fc6dcb945fb" /><Relationship Type="http://schemas.openxmlformats.org/officeDocument/2006/relationships/image" Target="/ppt/media/image21.png" Id="R603ed7f37b7b4e1c" /><Relationship Type="http://schemas.openxmlformats.org/officeDocument/2006/relationships/notesSlide" Target="/ppt/notesSlides/notesSlide21.xml" Id="R23f85856d199429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1156a5a504a4824" /><Relationship Type="http://schemas.openxmlformats.org/officeDocument/2006/relationships/image" Target="/ppt/media/image22.png" Id="R9b61466796a842d9" /><Relationship Type="http://schemas.openxmlformats.org/officeDocument/2006/relationships/notesSlide" Target="/ppt/notesSlides/notesSlide22.xml" Id="R11e34bfb647f4027"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A74DD841-FD0A-48B6-885C-C593BCFC9EDB}"/>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PROJECT OVERVIEW</a:t>
            </a:r>
          </a:p>
        </p:txBody>
      </p:sp>
      <p:sp>
        <p:nvSpPr>
          <p:cNvPr id="2" name="title">
            <a:extLst xmlns:a="http://schemas.openxmlformats.org/drawingml/2006/main">
              <a:ext uri="{FF2B5EF4-FFF2-40B4-BE49-F238E27FC236}">
                <a16:creationId xmlns:a16="http://schemas.microsoft.com/office/drawing/2014/main" id="{D4B43B6B-B367-4379-991B-93308E21056F}"/>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825" b="1">
                <a:solidFill>
                  <a:srgbClr val="142A3B"/>
                </a:solidFill>
                <a:latin typeface="DejaVu Sans"/>
                <a:ea typeface="DejaVu Sans"/>
                <a:cs typeface="DejaVu Sans"/>
              </a:defRPr>
            </a:defPPr>
            <a:lvl1pPr>
              <a:defRPr sz="3825" b="1">
                <a:solidFill>
                  <a:srgbClr val="142A3B"/>
                </a:solidFill>
                <a:latin typeface="DejaVu Sans"/>
                <a:ea typeface="DejaVu Sans"/>
                <a:cs typeface="DejaVu Sans"/>
              </a:defRPr>
            </a:lvl1pPr>
            <a:lvl2pPr>
              <a:defRPr sz="3825" b="1">
                <a:solidFill>
                  <a:srgbClr val="142A3B"/>
                </a:solidFill>
                <a:latin typeface="DejaVu Sans"/>
                <a:ea typeface="DejaVu Sans"/>
                <a:cs typeface="DejaVu Sans"/>
              </a:defRPr>
            </a:lvl2pPr>
            <a:lvl3pPr>
              <a:defRPr sz="3825" b="1">
                <a:solidFill>
                  <a:srgbClr val="142A3B"/>
                </a:solidFill>
                <a:latin typeface="DejaVu Sans"/>
                <a:ea typeface="DejaVu Sans"/>
                <a:cs typeface="DejaVu Sans"/>
              </a:defRPr>
            </a:lvl3pPr>
            <a:lvl4pPr>
              <a:defRPr sz="3825" b="1">
                <a:solidFill>
                  <a:srgbClr val="142A3B"/>
                </a:solidFill>
                <a:latin typeface="DejaVu Sans"/>
                <a:ea typeface="DejaVu Sans"/>
                <a:cs typeface="DejaVu Sans"/>
              </a:defRPr>
            </a:lvl4pPr>
            <a:lvl5pPr>
              <a:defRPr sz="3825" b="1">
                <a:solidFill>
                  <a:srgbClr val="142A3B"/>
                </a:solidFill>
                <a:latin typeface="DejaVu Sans"/>
                <a:ea typeface="DejaVu Sans"/>
                <a:cs typeface="DejaVu Sans"/>
              </a:defRPr>
            </a:lvl5pPr>
            <a:lvl6pPr>
              <a:defRPr sz="3825" b="1">
                <a:solidFill>
                  <a:srgbClr val="142A3B"/>
                </a:solidFill>
                <a:latin typeface="DejaVu Sans"/>
                <a:ea typeface="DejaVu Sans"/>
                <a:cs typeface="DejaVu Sans"/>
              </a:defRPr>
            </a:lvl6pPr>
            <a:lvl7pPr>
              <a:defRPr sz="3825" b="1">
                <a:solidFill>
                  <a:srgbClr val="142A3B"/>
                </a:solidFill>
                <a:latin typeface="DejaVu Sans"/>
                <a:ea typeface="DejaVu Sans"/>
                <a:cs typeface="DejaVu Sans"/>
              </a:defRPr>
            </a:lvl7pPr>
            <a:lvl8pPr>
              <a:defRPr sz="3825" b="1">
                <a:solidFill>
                  <a:srgbClr val="142A3B"/>
                </a:solidFill>
                <a:latin typeface="DejaVu Sans"/>
                <a:ea typeface="DejaVu Sans"/>
                <a:cs typeface="DejaVu Sans"/>
              </a:defRPr>
            </a:lvl8pPr>
            <a:lvl9pPr>
              <a:defRPr sz="3825" b="1">
                <a:solidFill>
                  <a:srgbClr val="142A3B"/>
                </a:solidFill>
                <a:latin typeface="DejaVu Sans"/>
                <a:ea typeface="DejaVu Sans"/>
                <a:cs typeface="DejaVu Sans"/>
              </a:defRPr>
            </a:lvl9pPr>
          </a:lstStyle>
          <a:p xmlns:a="http://schemas.openxmlformats.org/drawingml/2006/main">
            <a:pPr>
              <a:defRPr sz="3825" b="1">
                <a:solidFill>
                  <a:srgbClr val="142A3B"/>
                </a:solidFill>
                <a:latin typeface="DejaVu Sans"/>
                <a:ea typeface="DejaVu Sans"/>
                <a:cs typeface="DejaVu Sans"/>
              </a:defRPr>
            </a:pPr>
            <a:r>
              <a:rPr sz="3825" b="1">
                <a:solidFill>
                  <a:srgbClr val="142A3B"/>
                </a:solidFill>
                <a:latin typeface="DejaVu Sans"/>
                <a:ea typeface="DejaVu Sans"/>
                <a:cs typeface="DejaVu Sans"/>
              </a:rPr>
              <a:t>DRC datasets and repair experiments</a:t>
            </a:r>
          </a:p>
        </p:txBody>
      </p:sp>
      <p:pic>
        <p:nvPicPr>
          <p:cNvPr id="3" name="">
            <a:extLst xmlns:a="http://schemas.openxmlformats.org/drawingml/2006/main">
              <a:ext uri="{FF2B5EF4-FFF2-40B4-BE49-F238E27FC236}">
                <a16:creationId xmlns:a16="http://schemas.microsoft.com/office/drawing/2014/main" id="{6C5542DD-991A-464A-B10E-F14D1522AC02}"/>
              </a:ext>
            </a:extLst>
          </p:cNvPr>
          <p:cNvPicPr>
            <a:picLocks xmlns:a="http://schemas.openxmlformats.org/drawingml/2006/main" noChangeAspect="1"/>
          </p:cNvPicPr>
          <p:nvPr/>
        </p:nvPicPr>
        <p:blipFill>
          <a:blip xmlns:r="http://schemas.openxmlformats.org/officeDocument/2006/relationships" xmlns:a="http://schemas.openxmlformats.org/drawingml/2006/main" r:embed="R8871ef3dc97d49ce"/>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8314B8B1-F6C0-44A3-939F-368F7B36E6C7}"/>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Synthetic geometry, real cells, and routed blocks</a:t>
            </a:r>
          </a:p>
        </p:txBody>
      </p:sp>
      <p:sp>
        <p:nvSpPr>
          <p:cNvPr id="5" name="layer-legend">
            <a:extLst xmlns:a="http://schemas.openxmlformats.org/drawingml/2006/main">
              <a:ext uri="{FF2B5EF4-FFF2-40B4-BE49-F238E27FC236}">
                <a16:creationId xmlns:a16="http://schemas.microsoft.com/office/drawing/2014/main" id="{7288617D-D35F-49BB-B0EC-9041A20A6110}"/>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F10E7E6A-E01D-415A-93B7-84E782D44065}"/>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C1 and C2/C3 accepted manifests · exact paths in notes</a:t>
            </a:r>
          </a:p>
        </p:txBody>
      </p:sp>
      <p:sp>
        <p:nvSpPr>
          <p:cNvPr id="7" name="page">
            <a:extLst xmlns:a="http://schemas.openxmlformats.org/drawingml/2006/main">
              <a:ext uri="{FF2B5EF4-FFF2-40B4-BE49-F238E27FC236}">
                <a16:creationId xmlns:a16="http://schemas.microsoft.com/office/drawing/2014/main" id="{3C8D988A-9333-47CE-A753-2437F0EC0D5A}"/>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01</a:t>
            </a:r>
          </a:p>
        </p:txBody>
      </p:sp>
    </p:spTree>
    <p:extLst>
      <p:ext uri="{BB962C8B-B14F-4D97-AF65-F5344CB8AC3E}">
        <p14:creationId xmlns:p14="http://schemas.microsoft.com/office/powerpoint/2010/main" val="881444975"/>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B37CD87-6269-4D5C-8B70-40AF60DB6706}"/>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FOUNDATIONS</a:t>
            </a:r>
          </a:p>
        </p:txBody>
      </p:sp>
      <p:sp>
        <p:nvSpPr>
          <p:cNvPr id="2" name="title">
            <a:extLst xmlns:a="http://schemas.openxmlformats.org/drawingml/2006/main">
              <a:ext uri="{FF2B5EF4-FFF2-40B4-BE49-F238E27FC236}">
                <a16:creationId xmlns:a16="http://schemas.microsoft.com/office/drawing/2014/main" id="{77B06820-8201-4F58-9575-CA4E9B721D0A}"/>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GDS geometry and DRC markers</a:t>
            </a:r>
          </a:p>
        </p:txBody>
      </p:sp>
      <p:pic>
        <p:nvPicPr>
          <p:cNvPr id="3" name="">
            <a:extLst xmlns:a="http://schemas.openxmlformats.org/drawingml/2006/main">
              <a:ext uri="{FF2B5EF4-FFF2-40B4-BE49-F238E27FC236}">
                <a16:creationId xmlns:a16="http://schemas.microsoft.com/office/drawing/2014/main" id="{D8ED74FB-CECA-48D0-A375-8B4413A5CE88}"/>
              </a:ext>
            </a:extLst>
          </p:cNvPr>
          <p:cNvPicPr>
            <a:picLocks xmlns:a="http://schemas.openxmlformats.org/drawingml/2006/main" noChangeAspect="1"/>
          </p:cNvPicPr>
          <p:nvPr/>
        </p:nvPicPr>
        <p:blipFill>
          <a:blip xmlns:r="http://schemas.openxmlformats.org/officeDocument/2006/relationships" xmlns:a="http://schemas.openxmlformats.org/drawingml/2006/main" r:embed="R3d1e07261fd74c76"/>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EDF2C3E7-63D5-456D-BE91-7C9EF9649B23}"/>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A marker identifies a rule condition; it is not a circuit diagnosis</a:t>
            </a:r>
          </a:p>
        </p:txBody>
      </p:sp>
      <p:sp>
        <p:nvSpPr>
          <p:cNvPr id="5" name="layer-legend">
            <a:extLst xmlns:a="http://schemas.openxmlformats.org/drawingml/2006/main">
              <a:ext uri="{FF2B5EF4-FFF2-40B4-BE49-F238E27FC236}">
                <a16:creationId xmlns:a16="http://schemas.microsoft.com/office/drawing/2014/main" id="{217879AF-D947-47F7-9D01-CCB8935EAB93}"/>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C2ACC6B7-776F-4E2A-8C3F-25CA3523A441}"/>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C1 input GDS + saved checker reports · exact paths in notes</a:t>
            </a:r>
          </a:p>
        </p:txBody>
      </p:sp>
      <p:sp>
        <p:nvSpPr>
          <p:cNvPr id="7" name="page">
            <a:extLst xmlns:a="http://schemas.openxmlformats.org/drawingml/2006/main">
              <a:ext uri="{FF2B5EF4-FFF2-40B4-BE49-F238E27FC236}">
                <a16:creationId xmlns:a16="http://schemas.microsoft.com/office/drawing/2014/main" id="{5D62E4AF-7597-4C48-8F4F-9682AA886248}"/>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02</a:t>
            </a:r>
          </a:p>
        </p:txBody>
      </p:sp>
    </p:spTree>
    <p:extLst>
      <p:ext uri="{BB962C8B-B14F-4D97-AF65-F5344CB8AC3E}">
        <p14:creationId xmlns:p14="http://schemas.microsoft.com/office/powerpoint/2010/main" val="1453871119"/>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6B772CBC-A03F-4AD6-BF15-F98CC43521B5}"/>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3083FE0A-D90C-4671-B243-1F62A6CF6CF1}"/>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Dataset structure</a:t>
            </a:r>
          </a:p>
        </p:txBody>
      </p:sp>
      <p:pic>
        <p:nvPicPr>
          <p:cNvPr id="3" name="">
            <a:extLst xmlns:a="http://schemas.openxmlformats.org/drawingml/2006/main">
              <a:ext uri="{FF2B5EF4-FFF2-40B4-BE49-F238E27FC236}">
                <a16:creationId xmlns:a16="http://schemas.microsoft.com/office/drawing/2014/main" id="{EA7CF0CB-7302-4693-9811-1CF484A2B56B}"/>
              </a:ext>
            </a:extLst>
          </p:cNvPr>
          <p:cNvPicPr>
            <a:picLocks xmlns:a="http://schemas.openxmlformats.org/drawingml/2006/main" noChangeAspect="1"/>
          </p:cNvPicPr>
          <p:nvPr/>
        </p:nvPicPr>
        <p:blipFill>
          <a:blip xmlns:r="http://schemas.openxmlformats.org/officeDocument/2006/relationships" xmlns:a="http://schemas.openxmlformats.org/drawingml/2006/main" r:embed="R60737e41c7764304"/>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234F528B-CEA4-4E46-844B-5D398A731531}"/>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Each benchmark has its own scope and denominator</a:t>
            </a:r>
          </a:p>
        </p:txBody>
      </p:sp>
      <p:sp>
        <p:nvSpPr>
          <p:cNvPr id="5" name="source-note">
            <a:extLst xmlns:a="http://schemas.openxmlformats.org/drawingml/2006/main">
              <a:ext uri="{FF2B5EF4-FFF2-40B4-BE49-F238E27FC236}">
                <a16:creationId xmlns:a16="http://schemas.microsoft.com/office/drawing/2014/main" id="{5E4633DB-71F8-4710-BAB2-D21DB3BDAA91}"/>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C1 and C2/C3 accepted manifests · exact paths in notes</a:t>
            </a:r>
          </a:p>
        </p:txBody>
      </p:sp>
      <p:sp>
        <p:nvSpPr>
          <p:cNvPr id="6" name="page">
            <a:extLst xmlns:a="http://schemas.openxmlformats.org/drawingml/2006/main">
              <a:ext uri="{FF2B5EF4-FFF2-40B4-BE49-F238E27FC236}">
                <a16:creationId xmlns:a16="http://schemas.microsoft.com/office/drawing/2014/main" id="{6D302FC4-BE15-46DA-BA7D-F6DBD8886B75}"/>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03</a:t>
            </a:r>
          </a:p>
        </p:txBody>
      </p:sp>
    </p:spTree>
    <p:extLst>
      <p:ext uri="{BB962C8B-B14F-4D97-AF65-F5344CB8AC3E}">
        <p14:creationId xmlns:p14="http://schemas.microsoft.com/office/powerpoint/2010/main" val="1715174919"/>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8919B346-7175-4E00-A27B-ADD85C07261A}"/>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B37D0DC0-285A-4573-97B9-B53E76F71AB4}"/>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C1 case catalog</a:t>
            </a:r>
          </a:p>
        </p:txBody>
      </p:sp>
      <p:pic>
        <p:nvPicPr>
          <p:cNvPr id="3" name="">
            <a:extLst xmlns:a="http://schemas.openxmlformats.org/drawingml/2006/main">
              <a:ext uri="{FF2B5EF4-FFF2-40B4-BE49-F238E27FC236}">
                <a16:creationId xmlns:a16="http://schemas.microsoft.com/office/drawing/2014/main" id="{AD4F61F9-816D-4966-900B-512F3E1FF168}"/>
              </a:ext>
            </a:extLst>
          </p:cNvPr>
          <p:cNvPicPr>
            <a:picLocks xmlns:a="http://schemas.openxmlformats.org/drawingml/2006/main" noChangeAspect="1"/>
          </p:cNvPicPr>
          <p:nvPr/>
        </p:nvPicPr>
        <p:blipFill>
          <a:blip xmlns:r="http://schemas.openxmlformats.org/officeDocument/2006/relationships" xmlns:a="http://schemas.openxmlformats.org/drawingml/2006/main" r:embed="Rd8b2f461cf4a4a82"/>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13C735FE-F0AC-492E-9305-7B9DCABE87D8}"/>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Each rule family has the same four coverage tiers</a:t>
            </a:r>
          </a:p>
        </p:txBody>
      </p:sp>
      <p:sp>
        <p:nvSpPr>
          <p:cNvPr id="5" name="source-note">
            <a:extLst xmlns:a="http://schemas.openxmlformats.org/drawingml/2006/main">
              <a:ext uri="{FF2B5EF4-FFF2-40B4-BE49-F238E27FC236}">
                <a16:creationId xmlns:a16="http://schemas.microsoft.com/office/drawing/2014/main" id="{4C674E07-6FD0-4229-97DE-687732C709BE}"/>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C1 manifest + deterministic generator · exact paths in notes</a:t>
            </a:r>
          </a:p>
        </p:txBody>
      </p:sp>
      <p:sp>
        <p:nvSpPr>
          <p:cNvPr id="6" name="page">
            <a:extLst xmlns:a="http://schemas.openxmlformats.org/drawingml/2006/main">
              <a:ext uri="{FF2B5EF4-FFF2-40B4-BE49-F238E27FC236}">
                <a16:creationId xmlns:a16="http://schemas.microsoft.com/office/drawing/2014/main" id="{CD4D9044-ED0B-4A1A-8532-F6804AF75D00}"/>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04</a:t>
            </a:r>
          </a:p>
        </p:txBody>
      </p:sp>
    </p:spTree>
    <p:extLst>
      <p:ext uri="{BB962C8B-B14F-4D97-AF65-F5344CB8AC3E}">
        <p14:creationId xmlns:p14="http://schemas.microsoft.com/office/powerpoint/2010/main" val="221496443"/>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E60B3FBC-4C7A-417B-8303-B0E56AD4B921}"/>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24D3BD5A-2D3B-4FBA-B784-CA3366495FB9}"/>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C1 geometry construction</a:t>
            </a:r>
          </a:p>
        </p:txBody>
      </p:sp>
      <p:pic>
        <p:nvPicPr>
          <p:cNvPr id="3" name="">
            <a:extLst xmlns:a="http://schemas.openxmlformats.org/drawingml/2006/main">
              <a:ext uri="{FF2B5EF4-FFF2-40B4-BE49-F238E27FC236}">
                <a16:creationId xmlns:a16="http://schemas.microsoft.com/office/drawing/2014/main" id="{1E1BC879-BED0-47AC-8DB7-C2E7E953C5BF}"/>
              </a:ext>
            </a:extLst>
          </p:cNvPr>
          <p:cNvPicPr>
            <a:picLocks xmlns:a="http://schemas.openxmlformats.org/drawingml/2006/main" noChangeAspect="1"/>
          </p:cNvPicPr>
          <p:nvPr/>
        </p:nvPicPr>
        <p:blipFill>
          <a:blip xmlns:r="http://schemas.openxmlformats.org/officeDocument/2006/relationships" xmlns:a="http://schemas.openxmlformats.org/drawingml/2006/main" r:embed="R96e94c7638ec434a"/>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17EB03C7-9075-433E-9CE9-55F4727EDBE4}"/>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Dimensions are stored as exact integer geometry</a:t>
            </a:r>
          </a:p>
        </p:txBody>
      </p:sp>
      <p:sp>
        <p:nvSpPr>
          <p:cNvPr id="5" name="layer-legend">
            <a:extLst xmlns:a="http://schemas.openxmlformats.org/drawingml/2006/main">
              <a:ext uri="{FF2B5EF4-FFF2-40B4-BE49-F238E27FC236}">
                <a16:creationId xmlns:a16="http://schemas.microsoft.com/office/drawing/2014/main" id="{460944C0-A9FC-4868-B2BF-EA530971314C}"/>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6C2C11F2-1BB8-41A9-AFB1-3356594296C6}"/>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C1 input GDS + saved checker reports · exact paths in notes</a:t>
            </a:r>
          </a:p>
        </p:txBody>
      </p:sp>
      <p:sp>
        <p:nvSpPr>
          <p:cNvPr id="7" name="page">
            <a:extLst xmlns:a="http://schemas.openxmlformats.org/drawingml/2006/main">
              <a:ext uri="{FF2B5EF4-FFF2-40B4-BE49-F238E27FC236}">
                <a16:creationId xmlns:a16="http://schemas.microsoft.com/office/drawing/2014/main" id="{E798877A-D99F-4584-91AE-461FA4683156}"/>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05</a:t>
            </a:r>
          </a:p>
        </p:txBody>
      </p:sp>
    </p:spTree>
    <p:extLst>
      <p:ext uri="{BB962C8B-B14F-4D97-AF65-F5344CB8AC3E}">
        <p14:creationId xmlns:p14="http://schemas.microsoft.com/office/powerpoint/2010/main" val="1985728313"/>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93CB0D84-73BE-421D-A806-1FE77F01E856}"/>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931F94D2-8240-4695-9DD9-8D67E3ABFDDA}"/>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C1 acceptance and legal references</a:t>
            </a:r>
          </a:p>
        </p:txBody>
      </p:sp>
      <p:pic>
        <p:nvPicPr>
          <p:cNvPr id="3" name="">
            <a:extLst xmlns:a="http://schemas.openxmlformats.org/drawingml/2006/main">
              <a:ext uri="{FF2B5EF4-FFF2-40B4-BE49-F238E27FC236}">
                <a16:creationId xmlns:a16="http://schemas.microsoft.com/office/drawing/2014/main" id="{C846ABD0-612C-4D11-98F2-5E556F32B2A5}"/>
              </a:ext>
            </a:extLst>
          </p:cNvPr>
          <p:cNvPicPr>
            <a:picLocks xmlns:a="http://schemas.openxmlformats.org/drawingml/2006/main" noChangeAspect="1"/>
          </p:cNvPicPr>
          <p:nvPr/>
        </p:nvPicPr>
        <p:blipFill>
          <a:blip xmlns:r="http://schemas.openxmlformats.org/officeDocument/2006/relationships" xmlns:a="http://schemas.openxmlformats.org/drawingml/2006/main" r:embed="R2fb33e5fae5245fc"/>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678D3C73-E3B5-4046-BFAF-256AD17DD962}"/>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C1 legal seeds are constructed after the test inputs</a:t>
            </a:r>
          </a:p>
        </p:txBody>
      </p:sp>
      <p:sp>
        <p:nvSpPr>
          <p:cNvPr id="5" name="layer-legend">
            <a:extLst xmlns:a="http://schemas.openxmlformats.org/drawingml/2006/main">
              <a:ext uri="{FF2B5EF4-FFF2-40B4-BE49-F238E27FC236}">
                <a16:creationId xmlns:a16="http://schemas.microsoft.com/office/drawing/2014/main" id="{122004FF-8E21-4E06-9246-76530E1AC4A1}"/>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7AF63885-AFE2-4D8D-AF67-B327D0059C84}"/>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C1 generator + acceptance records · exact paths in notes</a:t>
            </a:r>
          </a:p>
        </p:txBody>
      </p:sp>
      <p:sp>
        <p:nvSpPr>
          <p:cNvPr id="7" name="page">
            <a:extLst xmlns:a="http://schemas.openxmlformats.org/drawingml/2006/main">
              <a:ext uri="{FF2B5EF4-FFF2-40B4-BE49-F238E27FC236}">
                <a16:creationId xmlns:a16="http://schemas.microsoft.com/office/drawing/2014/main" id="{9CE84B59-9FE4-440E-A23A-8DB9E9932304}"/>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06</a:t>
            </a:r>
          </a:p>
        </p:txBody>
      </p:sp>
    </p:spTree>
    <p:extLst>
      <p:ext uri="{BB962C8B-B14F-4D97-AF65-F5344CB8AC3E}">
        <p14:creationId xmlns:p14="http://schemas.microsoft.com/office/powerpoint/2010/main" val="257124328"/>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A512F06D-099F-4F61-8A09-C8783D8A04CF}"/>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33016075-32A8-4297-9477-344D31703186}"/>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Real-cell dataset construction</a:t>
            </a:r>
          </a:p>
        </p:txBody>
      </p:sp>
      <p:pic>
        <p:nvPicPr>
          <p:cNvPr id="3" name="">
            <a:extLst xmlns:a="http://schemas.openxmlformats.org/drawingml/2006/main">
              <a:ext uri="{FF2B5EF4-FFF2-40B4-BE49-F238E27FC236}">
                <a16:creationId xmlns:a16="http://schemas.microsoft.com/office/drawing/2014/main" id="{E74F3661-69E4-4EDA-A58D-1082620982A4}"/>
              </a:ext>
            </a:extLst>
          </p:cNvPr>
          <p:cNvPicPr>
            <a:picLocks xmlns:a="http://schemas.openxmlformats.org/drawingml/2006/main" noChangeAspect="1"/>
          </p:cNvPicPr>
          <p:nvPr/>
        </p:nvPicPr>
        <p:blipFill>
          <a:blip xmlns:r="http://schemas.openxmlformats.org/officeDocument/2006/relationships" xmlns:a="http://schemas.openxmlformats.org/drawingml/2006/main" r:embed="R8ab40b47c9b6429e"/>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C8A92E51-A76A-4F59-B998-B09759899236}"/>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Repeated instances retain their source masters and transformations</a:t>
            </a:r>
          </a:p>
        </p:txBody>
      </p:sp>
      <p:sp>
        <p:nvSpPr>
          <p:cNvPr id="5" name="layer-legend">
            <a:extLst xmlns:a="http://schemas.openxmlformats.org/drawingml/2006/main">
              <a:ext uri="{FF2B5EF4-FFF2-40B4-BE49-F238E27FC236}">
                <a16:creationId xmlns:a16="http://schemas.microsoft.com/office/drawing/2014/main" id="{4CF9457C-D76E-4C99-8CB0-14D58FDD48B1}"/>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98D234AD-71A9-4207-A8BC-F1407A2B9B46}"/>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Pinned ASAP7 library + real-cell generator · exact paths in notes</a:t>
            </a:r>
          </a:p>
        </p:txBody>
      </p:sp>
      <p:sp>
        <p:nvSpPr>
          <p:cNvPr id="7" name="page">
            <a:extLst xmlns:a="http://schemas.openxmlformats.org/drawingml/2006/main">
              <a:ext uri="{FF2B5EF4-FFF2-40B4-BE49-F238E27FC236}">
                <a16:creationId xmlns:a16="http://schemas.microsoft.com/office/drawing/2014/main" id="{EA0D8FEB-D150-43C8-BB3A-D16848DBAC96}"/>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07</a:t>
            </a:r>
          </a:p>
        </p:txBody>
      </p:sp>
    </p:spTree>
    <p:extLst>
      <p:ext uri="{BB962C8B-B14F-4D97-AF65-F5344CB8AC3E}">
        <p14:creationId xmlns:p14="http://schemas.microsoft.com/office/powerpoint/2010/main" val="1670405172"/>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07FAAFAE-3500-4B6C-9DB0-B89139A71F28}"/>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A9AD371D-E999-411A-BE22-257F477A8003}"/>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Routed source construction</a:t>
            </a:r>
          </a:p>
        </p:txBody>
      </p:sp>
      <p:pic>
        <p:nvPicPr>
          <p:cNvPr id="3" name="">
            <a:extLst xmlns:a="http://schemas.openxmlformats.org/drawingml/2006/main">
              <a:ext uri="{FF2B5EF4-FFF2-40B4-BE49-F238E27FC236}">
                <a16:creationId xmlns:a16="http://schemas.microsoft.com/office/drawing/2014/main" id="{95541F5F-7722-42B7-ADF0-E9C92BB17E4B}"/>
              </a:ext>
            </a:extLst>
          </p:cNvPr>
          <p:cNvPicPr>
            <a:picLocks xmlns:a="http://schemas.openxmlformats.org/drawingml/2006/main" noChangeAspect="1"/>
          </p:cNvPicPr>
          <p:nvPr/>
        </p:nvPicPr>
        <p:blipFill>
          <a:blip xmlns:r="http://schemas.openxmlformats.org/officeDocument/2006/relationships" xmlns:a="http://schemas.openxmlformats.org/drawingml/2006/main" r:embed="R461100d486e24fbb"/>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B532D3DD-C554-4548-A6D3-B060276F85B7}"/>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The retained source bundle links final geometry to the build inputs</a:t>
            </a:r>
          </a:p>
        </p:txBody>
      </p:sp>
      <p:sp>
        <p:nvSpPr>
          <p:cNvPr id="5" name="source-note">
            <a:extLst xmlns:a="http://schemas.openxmlformats.org/drawingml/2006/main">
              <a:ext uri="{FF2B5EF4-FFF2-40B4-BE49-F238E27FC236}">
                <a16:creationId xmlns:a16="http://schemas.microsoft.com/office/drawing/2014/main" id="{FB7C6CF1-CBCE-4F0D-9869-974B28485717}"/>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ORFS toolchain + provenance receipts · exact paths in notes</a:t>
            </a:r>
          </a:p>
        </p:txBody>
      </p:sp>
      <p:sp>
        <p:nvSpPr>
          <p:cNvPr id="6" name="page">
            <a:extLst xmlns:a="http://schemas.openxmlformats.org/drawingml/2006/main">
              <a:ext uri="{FF2B5EF4-FFF2-40B4-BE49-F238E27FC236}">
                <a16:creationId xmlns:a16="http://schemas.microsoft.com/office/drawing/2014/main" id="{7E4F6964-6830-47BD-B885-607F40F6699B}"/>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08</a:t>
            </a:r>
          </a:p>
        </p:txBody>
      </p:sp>
    </p:spTree>
    <p:extLst>
      <p:ext uri="{BB962C8B-B14F-4D97-AF65-F5344CB8AC3E}">
        <p14:creationId xmlns:p14="http://schemas.microsoft.com/office/powerpoint/2010/main" val="1225627211"/>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D12B21E4-06B7-4C8E-912E-90AD19B95F89}"/>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DB7988E5-C99C-48C2-98ED-5DD9F693F12B}"/>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Route ownership and extraction</a:t>
            </a:r>
          </a:p>
        </p:txBody>
      </p:sp>
      <p:pic>
        <p:nvPicPr>
          <p:cNvPr id="3" name="">
            <a:extLst xmlns:a="http://schemas.openxmlformats.org/drawingml/2006/main">
              <a:ext uri="{FF2B5EF4-FFF2-40B4-BE49-F238E27FC236}">
                <a16:creationId xmlns:a16="http://schemas.microsoft.com/office/drawing/2014/main" id="{C07A2D6C-1C7B-4FEF-A231-0150E4B3CE00}"/>
              </a:ext>
            </a:extLst>
          </p:cNvPr>
          <p:cNvPicPr>
            <a:picLocks xmlns:a="http://schemas.openxmlformats.org/drawingml/2006/main" noChangeAspect="1"/>
          </p:cNvPicPr>
          <p:nvPr/>
        </p:nvPicPr>
        <p:blipFill>
          <a:blip xmlns:r="http://schemas.openxmlformats.org/officeDocument/2006/relationships" xmlns:a="http://schemas.openxmlformats.org/drawingml/2006/main" r:embed="R07bcd9a122564efe"/>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86F26BD5-19BE-404A-B239-C1417C835391}"/>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Only unambiguous signal routes become editable</a:t>
            </a:r>
          </a:p>
        </p:txBody>
      </p:sp>
      <p:sp>
        <p:nvSpPr>
          <p:cNvPr id="5" name="layer-legend">
            <a:extLst xmlns:a="http://schemas.openxmlformats.org/drawingml/2006/main">
              <a:ext uri="{FF2B5EF4-FFF2-40B4-BE49-F238E27FC236}">
                <a16:creationId xmlns:a16="http://schemas.microsoft.com/office/drawing/2014/main" id="{F4A88433-0C01-4894-B623-A66AC014B6C3}"/>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1A673718-40B5-443A-AD8C-CC1332243ED1}"/>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DEF/ODB/GDS ownership checks + route extractor · exact paths in notes</a:t>
            </a:r>
          </a:p>
        </p:txBody>
      </p:sp>
      <p:sp>
        <p:nvSpPr>
          <p:cNvPr id="7" name="page">
            <a:extLst xmlns:a="http://schemas.openxmlformats.org/drawingml/2006/main">
              <a:ext uri="{FF2B5EF4-FFF2-40B4-BE49-F238E27FC236}">
                <a16:creationId xmlns:a16="http://schemas.microsoft.com/office/drawing/2014/main" id="{2F1A99DE-BE1F-4419-BFA5-6722B855AC6A}"/>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09</a:t>
            </a:r>
          </a:p>
        </p:txBody>
      </p:sp>
    </p:spTree>
    <p:extLst>
      <p:ext uri="{BB962C8B-B14F-4D97-AF65-F5344CB8AC3E}">
        <p14:creationId xmlns:p14="http://schemas.microsoft.com/office/powerpoint/2010/main" val="1489868515"/>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43034E9C-699A-4D32-ADD0-0232610F58F8}"/>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5DFA43AF-DC3F-49FC-B360-E36F466536D5}"/>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Five complexity levels</a:t>
            </a:r>
          </a:p>
        </p:txBody>
      </p:sp>
      <p:pic>
        <p:nvPicPr>
          <p:cNvPr id="3" name="">
            <a:extLst xmlns:a="http://schemas.openxmlformats.org/drawingml/2006/main">
              <a:ext uri="{FF2B5EF4-FFF2-40B4-BE49-F238E27FC236}">
                <a16:creationId xmlns:a16="http://schemas.microsoft.com/office/drawing/2014/main" id="{550320C6-0DD8-473E-AAB2-719960A81579}"/>
              </a:ext>
            </a:extLst>
          </p:cNvPr>
          <p:cNvPicPr>
            <a:picLocks xmlns:a="http://schemas.openxmlformats.org/drawingml/2006/main" noChangeAspect="1"/>
          </p:cNvPicPr>
          <p:nvPr/>
        </p:nvPicPr>
        <p:blipFill>
          <a:blip xmlns:r="http://schemas.openxmlformats.org/officeDocument/2006/relationships" xmlns:a="http://schemas.openxmlformats.org/drawingml/2006/main" r:embed="R7926444a103a40fc"/>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C7A3535D-E044-41C9-9FFA-DF8EE4A0B17E}"/>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Each level adds hierarchy, routing context, or coupled constraints</a:t>
            </a:r>
          </a:p>
        </p:txBody>
      </p:sp>
      <p:sp>
        <p:nvSpPr>
          <p:cNvPr id="5" name="layer-legend">
            <a:extLst xmlns:a="http://schemas.openxmlformats.org/drawingml/2006/main">
              <a:ext uri="{FF2B5EF4-FFF2-40B4-BE49-F238E27FC236}">
                <a16:creationId xmlns:a16="http://schemas.microsoft.com/office/drawing/2014/main" id="{EC112B38-F89C-4AAD-8C49-73C9F0D43CFA}"/>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B16D83B8-AE37-413D-8984-1BA88F98C15F}"/>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C2/C3 manifest + stress selection + obstacle audit · exact paths in notes</a:t>
            </a:r>
          </a:p>
        </p:txBody>
      </p:sp>
      <p:sp>
        <p:nvSpPr>
          <p:cNvPr id="7" name="page">
            <a:extLst xmlns:a="http://schemas.openxmlformats.org/drawingml/2006/main">
              <a:ext uri="{FF2B5EF4-FFF2-40B4-BE49-F238E27FC236}">
                <a16:creationId xmlns:a16="http://schemas.microsoft.com/office/drawing/2014/main" id="{821B3D05-8701-4D89-A9DA-0EB823B99F2B}"/>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10</a:t>
            </a:r>
          </a:p>
        </p:txBody>
      </p:sp>
    </p:spTree>
    <p:extLst>
      <p:ext uri="{BB962C8B-B14F-4D97-AF65-F5344CB8AC3E}">
        <p14:creationId xmlns:p14="http://schemas.microsoft.com/office/powerpoint/2010/main" val="1725882093"/>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0F92EE6-1857-41CA-BEE6-3BA294EB1D5B}"/>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DATASET CREATION</a:t>
            </a:r>
          </a:p>
        </p:txBody>
      </p:sp>
      <p:sp>
        <p:nvSpPr>
          <p:cNvPr id="2" name="title">
            <a:extLst xmlns:a="http://schemas.openxmlformats.org/drawingml/2006/main">
              <a:ext uri="{FF2B5EF4-FFF2-40B4-BE49-F238E27FC236}">
                <a16:creationId xmlns:a16="http://schemas.microsoft.com/office/drawing/2014/main" id="{27FF9CC1-889B-4999-AE25-E5CB1913F6FC}"/>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C2/C3 mutation and qualification</a:t>
            </a:r>
          </a:p>
        </p:txBody>
      </p:sp>
      <p:pic>
        <p:nvPicPr>
          <p:cNvPr id="3" name="">
            <a:extLst xmlns:a="http://schemas.openxmlformats.org/drawingml/2006/main">
              <a:ext uri="{FF2B5EF4-FFF2-40B4-BE49-F238E27FC236}">
                <a16:creationId xmlns:a16="http://schemas.microsoft.com/office/drawing/2014/main" id="{75A5CB47-F753-4114-816C-091E93BBBD2E}"/>
              </a:ext>
            </a:extLst>
          </p:cNvPr>
          <p:cNvPicPr>
            <a:picLocks xmlns:a="http://schemas.openxmlformats.org/drawingml/2006/main" noChangeAspect="1"/>
          </p:cNvPicPr>
          <p:nvPr/>
        </p:nvPicPr>
        <p:blipFill>
          <a:blip xmlns:r="http://schemas.openxmlformats.org/officeDocument/2006/relationships" xmlns:a="http://schemas.openxmlformats.org/drawingml/2006/main" r:embed="R93af516d60764931"/>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C3AA0125-1108-4236-930B-CC67E951A7AF}"/>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C2/C3 starts with a legal local target before injecting the defect</a:t>
            </a:r>
          </a:p>
        </p:txBody>
      </p:sp>
      <p:sp>
        <p:nvSpPr>
          <p:cNvPr id="5" name="source-note">
            <a:extLst xmlns:a="http://schemas.openxmlformats.org/drawingml/2006/main">
              <a:ext uri="{FF2B5EF4-FFF2-40B4-BE49-F238E27FC236}">
                <a16:creationId xmlns:a16="http://schemas.microsoft.com/office/drawing/2014/main" id="{71C3877A-82B1-4545-9F7B-71BBACD2F616}"/>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C2/C3 generators + checker qualification · exact paths in notes</a:t>
            </a:r>
          </a:p>
        </p:txBody>
      </p:sp>
      <p:sp>
        <p:nvSpPr>
          <p:cNvPr id="6" name="page">
            <a:extLst xmlns:a="http://schemas.openxmlformats.org/drawingml/2006/main">
              <a:ext uri="{FF2B5EF4-FFF2-40B4-BE49-F238E27FC236}">
                <a16:creationId xmlns:a16="http://schemas.microsoft.com/office/drawing/2014/main" id="{50331C9F-5CFE-45F2-9C1C-5987588932A5}"/>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11</a:t>
            </a:r>
          </a:p>
        </p:txBody>
      </p:sp>
    </p:spTree>
    <p:extLst>
      <p:ext uri="{BB962C8B-B14F-4D97-AF65-F5344CB8AC3E}">
        <p14:creationId xmlns:p14="http://schemas.microsoft.com/office/powerpoint/2010/main" val="895178006"/>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6C8BC841-7485-4341-97A3-E3B72F7F5F40}"/>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REPAIR WORKFLOW</a:t>
            </a:r>
          </a:p>
        </p:txBody>
      </p:sp>
      <p:sp>
        <p:nvSpPr>
          <p:cNvPr id="2" name="title">
            <a:extLst xmlns:a="http://schemas.openxmlformats.org/drawingml/2006/main">
              <a:ext uri="{FF2B5EF4-FFF2-40B4-BE49-F238E27FC236}">
                <a16:creationId xmlns:a16="http://schemas.microsoft.com/office/drawing/2014/main" id="{0FD6A53D-B244-4191-A81B-09AEBE01614D}"/>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Edit permissions and coordinate frames</a:t>
            </a:r>
          </a:p>
        </p:txBody>
      </p:sp>
      <p:pic>
        <p:nvPicPr>
          <p:cNvPr id="3" name="">
            <a:extLst xmlns:a="http://schemas.openxmlformats.org/drawingml/2006/main">
              <a:ext uri="{FF2B5EF4-FFF2-40B4-BE49-F238E27FC236}">
                <a16:creationId xmlns:a16="http://schemas.microsoft.com/office/drawing/2014/main" id="{BA12C0E4-1BE5-4E0E-8AC3-4942E892C0A3}"/>
              </a:ext>
            </a:extLst>
          </p:cNvPr>
          <p:cNvPicPr>
            <a:picLocks xmlns:a="http://schemas.openxmlformats.org/drawingml/2006/main" noChangeAspect="1"/>
          </p:cNvPicPr>
          <p:nvPr/>
        </p:nvPicPr>
        <p:blipFill>
          <a:blip xmlns:r="http://schemas.openxmlformats.org/officeDocument/2006/relationships" xmlns:a="http://schemas.openxmlformats.org/drawingml/2006/main" r:embed="R64e159f7ae174dde"/>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45EE4BC0-745E-465C-AA13-F808A5E10D4E}"/>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A spatial mask alone does not grant permission to edit every shape inside it</a:t>
            </a:r>
          </a:p>
        </p:txBody>
      </p:sp>
      <p:sp>
        <p:nvSpPr>
          <p:cNvPr id="5" name="layer-legend">
            <a:extLst xmlns:a="http://schemas.openxmlformats.org/drawingml/2006/main">
              <a:ext uri="{FF2B5EF4-FFF2-40B4-BE49-F238E27FC236}">
                <a16:creationId xmlns:a16="http://schemas.microsoft.com/office/drawing/2014/main" id="{B2F69F27-DF55-4EE0-AA54-892772C6D626}"/>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38FFC7E2-725E-4245-A6FB-A86F027E12D6}"/>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Public edit policy + retained input GDS · exact paths in notes</a:t>
            </a:r>
          </a:p>
        </p:txBody>
      </p:sp>
      <p:sp>
        <p:nvSpPr>
          <p:cNvPr id="7" name="page">
            <a:extLst xmlns:a="http://schemas.openxmlformats.org/drawingml/2006/main">
              <a:ext uri="{FF2B5EF4-FFF2-40B4-BE49-F238E27FC236}">
                <a16:creationId xmlns:a16="http://schemas.microsoft.com/office/drawing/2014/main" id="{05871D19-79B0-439F-8A3E-D432548EF6C8}"/>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12</a:t>
            </a:r>
          </a:p>
        </p:txBody>
      </p:sp>
    </p:spTree>
    <p:extLst>
      <p:ext uri="{BB962C8B-B14F-4D97-AF65-F5344CB8AC3E}">
        <p14:creationId xmlns:p14="http://schemas.microsoft.com/office/powerpoint/2010/main" val="564548068"/>
      </p:ext>
    </p:extLst>
  </p:cSld>
</p:sld>
</file>

<file path=ppt/slides/slide1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52139CEF-B6EB-4EED-A334-5663F071F4D1}"/>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REPAIR WORKFLOW</a:t>
            </a:r>
          </a:p>
        </p:txBody>
      </p:sp>
      <p:sp>
        <p:nvSpPr>
          <p:cNvPr id="2" name="title">
            <a:extLst xmlns:a="http://schemas.openxmlformats.org/drawingml/2006/main">
              <a:ext uri="{FF2B5EF4-FFF2-40B4-BE49-F238E27FC236}">
                <a16:creationId xmlns:a16="http://schemas.microsoft.com/office/drawing/2014/main" id="{2872375B-D5F1-4C7B-B0E3-A289CB35269E}"/>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Information supplied to the model</a:t>
            </a:r>
          </a:p>
        </p:txBody>
      </p:sp>
      <p:pic>
        <p:nvPicPr>
          <p:cNvPr id="3" name="">
            <a:extLst xmlns:a="http://schemas.openxmlformats.org/drawingml/2006/main">
              <a:ext uri="{FF2B5EF4-FFF2-40B4-BE49-F238E27FC236}">
                <a16:creationId xmlns:a16="http://schemas.microsoft.com/office/drawing/2014/main" id="{35011D2F-130F-4EB2-B243-86830CCE50F0}"/>
              </a:ext>
            </a:extLst>
          </p:cNvPr>
          <p:cNvPicPr>
            <a:picLocks xmlns:a="http://schemas.openxmlformats.org/drawingml/2006/main" noChangeAspect="1"/>
          </p:cNvPicPr>
          <p:nvPr/>
        </p:nvPicPr>
        <p:blipFill>
          <a:blip xmlns:r="http://schemas.openxmlformats.org/officeDocument/2006/relationships" xmlns:a="http://schemas.openxmlformats.org/drawingml/2006/main" r:embed="R349783e8c15f408a"/>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45940130-0E3C-46C3-AA23-172A65B1F40F}"/>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Public task context is separate from private evaluator evidence</a:t>
            </a:r>
          </a:p>
        </p:txBody>
      </p:sp>
      <p:sp>
        <p:nvSpPr>
          <p:cNvPr id="5" name="source-note">
            <a:extLst xmlns:a="http://schemas.openxmlformats.org/drawingml/2006/main">
              <a:ext uri="{FF2B5EF4-FFF2-40B4-BE49-F238E27FC236}">
                <a16:creationId xmlns:a16="http://schemas.microsoft.com/office/drawing/2014/main" id="{F000210B-6FA2-40CE-8569-B6ED2D816254}"/>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Frozen synthesis sources + public policy contract · exact paths in notes</a:t>
            </a:r>
          </a:p>
        </p:txBody>
      </p:sp>
      <p:sp>
        <p:nvSpPr>
          <p:cNvPr id="6" name="page">
            <a:extLst xmlns:a="http://schemas.openxmlformats.org/drawingml/2006/main">
              <a:ext uri="{FF2B5EF4-FFF2-40B4-BE49-F238E27FC236}">
                <a16:creationId xmlns:a16="http://schemas.microsoft.com/office/drawing/2014/main" id="{7A6BFF01-D380-471D-AD0E-A58B4D9F4BF3}"/>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13</a:t>
            </a:r>
          </a:p>
        </p:txBody>
      </p:sp>
    </p:spTree>
    <p:extLst>
      <p:ext uri="{BB962C8B-B14F-4D97-AF65-F5344CB8AC3E}">
        <p14:creationId xmlns:p14="http://schemas.microsoft.com/office/powerpoint/2010/main" val="540873833"/>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CA81892-D96F-4261-B6D1-CBC048725FA0}"/>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REPAIR WORKFLOW</a:t>
            </a:r>
          </a:p>
        </p:txBody>
      </p:sp>
      <p:sp>
        <p:nvSpPr>
          <p:cNvPr id="2" name="title">
            <a:extLst xmlns:a="http://schemas.openxmlformats.org/drawingml/2006/main">
              <a:ext uri="{FF2B5EF4-FFF2-40B4-BE49-F238E27FC236}">
                <a16:creationId xmlns:a16="http://schemas.microsoft.com/office/drawing/2014/main" id="{AAFCAE69-2473-4869-A806-B85E6D4E6748}"/>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One repair attempt</a:t>
            </a:r>
          </a:p>
        </p:txBody>
      </p:sp>
      <p:pic>
        <p:nvPicPr>
          <p:cNvPr id="3" name="">
            <a:extLst xmlns:a="http://schemas.openxmlformats.org/drawingml/2006/main">
              <a:ext uri="{FF2B5EF4-FFF2-40B4-BE49-F238E27FC236}">
                <a16:creationId xmlns:a16="http://schemas.microsoft.com/office/drawing/2014/main" id="{BBA304F2-9455-47CE-A40E-D543191210C1}"/>
              </a:ext>
            </a:extLst>
          </p:cNvPr>
          <p:cNvPicPr>
            <a:picLocks xmlns:a="http://schemas.openxmlformats.org/drawingml/2006/main" noChangeAspect="1"/>
          </p:cNvPicPr>
          <p:nvPr/>
        </p:nvPicPr>
        <p:blipFill>
          <a:blip xmlns:r="http://schemas.openxmlformats.org/officeDocument/2006/relationships" xmlns:a="http://schemas.openxmlformats.org/drawingml/2006/main" r:embed="R48c05d03299f41fb"/>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E551889E-E3C8-4A84-A9A8-3E6CA377FCEB}"/>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Validation runs before after-DRC; failures remain recorded</a:t>
            </a:r>
          </a:p>
        </p:txBody>
      </p:sp>
      <p:sp>
        <p:nvSpPr>
          <p:cNvPr id="5" name="source-note">
            <a:extLst xmlns:a="http://schemas.openxmlformats.org/drawingml/2006/main">
              <a:ext uri="{FF2B5EF4-FFF2-40B4-BE49-F238E27FC236}">
                <a16:creationId xmlns:a16="http://schemas.microsoft.com/office/drawing/2014/main" id="{417A99DE-C741-4151-95FD-E9138EDF9D48}"/>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Frozen evaluator + synthesis + sandbox sources · exact paths in notes</a:t>
            </a:r>
          </a:p>
        </p:txBody>
      </p:sp>
      <p:sp>
        <p:nvSpPr>
          <p:cNvPr id="6" name="page">
            <a:extLst xmlns:a="http://schemas.openxmlformats.org/drawingml/2006/main">
              <a:ext uri="{FF2B5EF4-FFF2-40B4-BE49-F238E27FC236}">
                <a16:creationId xmlns:a16="http://schemas.microsoft.com/office/drawing/2014/main" id="{D690E928-60F9-4014-87A5-AC45C1CC4DFF}"/>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14</a:t>
            </a:r>
          </a:p>
        </p:txBody>
      </p:sp>
    </p:spTree>
    <p:extLst>
      <p:ext uri="{BB962C8B-B14F-4D97-AF65-F5344CB8AC3E}">
        <p14:creationId xmlns:p14="http://schemas.microsoft.com/office/powerpoint/2010/main" val="1897561312"/>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3C2970FA-0D54-488E-BC93-B2051DF2B2A7}"/>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REPAIR WORKFLOW</a:t>
            </a:r>
          </a:p>
        </p:txBody>
      </p:sp>
      <p:sp>
        <p:nvSpPr>
          <p:cNvPr id="2" name="title">
            <a:extLst xmlns:a="http://schemas.openxmlformats.org/drawingml/2006/main">
              <a:ext uri="{FF2B5EF4-FFF2-40B4-BE49-F238E27FC236}">
                <a16:creationId xmlns:a16="http://schemas.microsoft.com/office/drawing/2014/main" id="{482CCD5E-48A0-4974-9C85-91D5E7F49A10}"/>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Verified KLayout API guidance</a:t>
            </a:r>
          </a:p>
        </p:txBody>
      </p:sp>
      <p:pic>
        <p:nvPicPr>
          <p:cNvPr id="3" name="">
            <a:extLst xmlns:a="http://schemas.openxmlformats.org/drawingml/2006/main">
              <a:ext uri="{FF2B5EF4-FFF2-40B4-BE49-F238E27FC236}">
                <a16:creationId xmlns:a16="http://schemas.microsoft.com/office/drawing/2014/main" id="{90862AC7-5320-43CF-B292-27A319EC38B6}"/>
              </a:ext>
            </a:extLst>
          </p:cNvPr>
          <p:cNvPicPr>
            <a:picLocks xmlns:a="http://schemas.openxmlformats.org/drawingml/2006/main" noChangeAspect="1"/>
          </p:cNvPicPr>
          <p:nvPr/>
        </p:nvPicPr>
        <p:blipFill>
          <a:blip xmlns:r="http://schemas.openxmlformats.org/officeDocument/2006/relationships" xmlns:a="http://schemas.openxmlformats.org/drawingml/2006/main" r:embed="R5cf66dde5eb045c9"/>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2B2C8C8C-7D64-482A-A382-691275880992}"/>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Reference checks can block dispatch, but model scripts still need execution</a:t>
            </a:r>
          </a:p>
        </p:txBody>
      </p:sp>
      <p:sp>
        <p:nvSpPr>
          <p:cNvPr id="5" name="source-note">
            <a:extLst xmlns:a="http://schemas.openxmlformats.org/drawingml/2006/main">
              <a:ext uri="{FF2B5EF4-FFF2-40B4-BE49-F238E27FC236}">
                <a16:creationId xmlns:a16="http://schemas.microsoft.com/office/drawing/2014/main" id="{75DA3E52-F40E-4BEE-8048-F774D18A2BB1}"/>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Saved runtime preflight + complete API reference · exact paths in notes</a:t>
            </a:r>
          </a:p>
        </p:txBody>
      </p:sp>
      <p:sp>
        <p:nvSpPr>
          <p:cNvPr id="6" name="page">
            <a:extLst xmlns:a="http://schemas.openxmlformats.org/drawingml/2006/main">
              <a:ext uri="{FF2B5EF4-FFF2-40B4-BE49-F238E27FC236}">
                <a16:creationId xmlns:a16="http://schemas.microsoft.com/office/drawing/2014/main" id="{C5CC44FC-FD55-47F7-A158-14C99EEF8192}"/>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15</a:t>
            </a:r>
          </a:p>
        </p:txBody>
      </p:sp>
    </p:spTree>
    <p:extLst>
      <p:ext uri="{BB962C8B-B14F-4D97-AF65-F5344CB8AC3E}">
        <p14:creationId xmlns:p14="http://schemas.microsoft.com/office/powerpoint/2010/main" val="1383525637"/>
      </p:ext>
    </p:extLst>
  </p:cSld>
</p:sld>
</file>

<file path=ppt/slides/slide1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E6C488D8-4D7E-4717-B74D-E42922AB981F}"/>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REPAIR WORKFLOW</a:t>
            </a:r>
          </a:p>
        </p:txBody>
      </p:sp>
      <p:sp>
        <p:nvSpPr>
          <p:cNvPr id="2" name="title">
            <a:extLst xmlns:a="http://schemas.openxmlformats.org/drawingml/2006/main">
              <a:ext uri="{FF2B5EF4-FFF2-40B4-BE49-F238E27FC236}">
                <a16:creationId xmlns:a16="http://schemas.microsoft.com/office/drawing/2014/main" id="{D1FCDF0A-3F6C-4071-804F-DEDBB3172857}"/>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Acceptance gates</a:t>
            </a:r>
          </a:p>
        </p:txBody>
      </p:sp>
      <p:pic>
        <p:nvPicPr>
          <p:cNvPr id="3" name="">
            <a:extLst xmlns:a="http://schemas.openxmlformats.org/drawingml/2006/main">
              <a:ext uri="{FF2B5EF4-FFF2-40B4-BE49-F238E27FC236}">
                <a16:creationId xmlns:a16="http://schemas.microsoft.com/office/drawing/2014/main" id="{80808D16-8900-4A27-9297-1BEBDE5E3C26}"/>
              </a:ext>
            </a:extLst>
          </p:cNvPr>
          <p:cNvPicPr>
            <a:picLocks xmlns:a="http://schemas.openxmlformats.org/drawingml/2006/main" noChangeAspect="1"/>
          </p:cNvPicPr>
          <p:nvPr/>
        </p:nvPicPr>
        <p:blipFill>
          <a:blip xmlns:r="http://schemas.openxmlformats.org/officeDocument/2006/relationships" xmlns:a="http://schemas.openxmlformats.org/drawingml/2006/main" r:embed="R1fae8adf879f40e7"/>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4E562F25-05A5-4EB7-9DC3-F569F25F6E58}"/>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Missing after-DRC is unknown; it never counts as zero markers</a:t>
            </a:r>
          </a:p>
        </p:txBody>
      </p:sp>
      <p:sp>
        <p:nvSpPr>
          <p:cNvPr id="5" name="source-note">
            <a:extLst xmlns:a="http://schemas.openxmlformats.org/drawingml/2006/main">
              <a:ext uri="{FF2B5EF4-FFF2-40B4-BE49-F238E27FC236}">
                <a16:creationId xmlns:a16="http://schemas.microsoft.com/office/drawing/2014/main" id="{33910CFA-9FCD-405F-841A-DBEB78D842D0}"/>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Frozen evaluators + preservation and edit policy · exact paths in notes</a:t>
            </a:r>
          </a:p>
        </p:txBody>
      </p:sp>
      <p:sp>
        <p:nvSpPr>
          <p:cNvPr id="6" name="page">
            <a:extLst xmlns:a="http://schemas.openxmlformats.org/drawingml/2006/main">
              <a:ext uri="{FF2B5EF4-FFF2-40B4-BE49-F238E27FC236}">
                <a16:creationId xmlns:a16="http://schemas.microsoft.com/office/drawing/2014/main" id="{4AE74E2C-7AA4-4577-A79A-4AA5D49AF87C}"/>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16</a:t>
            </a:r>
          </a:p>
        </p:txBody>
      </p:sp>
    </p:spTree>
    <p:extLst>
      <p:ext uri="{BB962C8B-B14F-4D97-AF65-F5344CB8AC3E}">
        <p14:creationId xmlns:p14="http://schemas.microsoft.com/office/powerpoint/2010/main" val="712579089"/>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AFD7E402-D705-4C42-B08D-C97FD5EB23C5}"/>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CASE STUDY</a:t>
            </a:r>
          </a:p>
        </p:txBody>
      </p:sp>
      <p:sp>
        <p:nvSpPr>
          <p:cNvPr id="2" name="title">
            <a:extLst xmlns:a="http://schemas.openxmlformats.org/drawingml/2006/main">
              <a:ext uri="{FF2B5EF4-FFF2-40B4-BE49-F238E27FC236}">
                <a16:creationId xmlns:a16="http://schemas.microsoft.com/office/drawing/2014/main" id="{81740BB9-4CB5-44E4-8A28-A3252769B914}"/>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A successful C1 repair</a:t>
            </a:r>
          </a:p>
        </p:txBody>
      </p:sp>
      <p:pic>
        <p:nvPicPr>
          <p:cNvPr id="3" name="">
            <a:extLst xmlns:a="http://schemas.openxmlformats.org/drawingml/2006/main">
              <a:ext uri="{FF2B5EF4-FFF2-40B4-BE49-F238E27FC236}">
                <a16:creationId xmlns:a16="http://schemas.microsoft.com/office/drawing/2014/main" id="{8278EB81-942A-40BD-9024-6A781BB157DB}"/>
              </a:ext>
            </a:extLst>
          </p:cNvPr>
          <p:cNvPicPr>
            <a:picLocks xmlns:a="http://schemas.openxmlformats.org/drawingml/2006/main" noChangeAspect="1"/>
          </p:cNvPicPr>
          <p:nvPr/>
        </p:nvPicPr>
        <p:blipFill>
          <a:blip xmlns:r="http://schemas.openxmlformats.org/officeDocument/2006/relationships" xmlns:a="http://schemas.openxmlformats.org/drawingml/2006/main" r:embed="R97194dad292940ae"/>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73C3877B-01C6-4CFE-85DD-3ECE269F66C3}"/>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The generated script widened the wire from 15 nm to 18 nm</a:t>
            </a:r>
          </a:p>
        </p:txBody>
      </p:sp>
      <p:sp>
        <p:nvSpPr>
          <p:cNvPr id="5" name="layer-legend">
            <a:extLst xmlns:a="http://schemas.openxmlformats.org/drawingml/2006/main">
              <a:ext uri="{FF2B5EF4-FFF2-40B4-BE49-F238E27FC236}">
                <a16:creationId xmlns:a16="http://schemas.microsoft.com/office/drawing/2014/main" id="{0EA28E29-67B8-4A7B-90D0-E3BD441BCE1C}"/>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B434AADC-7D08-4C6F-B35F-EA81005EB58E}"/>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OpenAI m1_w1_iso_04 saved run bundle · exact paths in notes</a:t>
            </a:r>
          </a:p>
        </p:txBody>
      </p:sp>
      <p:sp>
        <p:nvSpPr>
          <p:cNvPr id="7" name="page">
            <a:extLst xmlns:a="http://schemas.openxmlformats.org/drawingml/2006/main">
              <a:ext uri="{FF2B5EF4-FFF2-40B4-BE49-F238E27FC236}">
                <a16:creationId xmlns:a16="http://schemas.microsoft.com/office/drawing/2014/main" id="{85410094-6825-4220-8510-0ADA15AE8B13}"/>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17</a:t>
            </a:r>
          </a:p>
        </p:txBody>
      </p:sp>
    </p:spTree>
    <p:extLst>
      <p:ext uri="{BB962C8B-B14F-4D97-AF65-F5344CB8AC3E}">
        <p14:creationId xmlns:p14="http://schemas.microsoft.com/office/powerpoint/2010/main" val="1623734576"/>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BC8CF471-E388-4A4C-B9E4-D9A9A1E0B2FD}"/>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CASE STUDY</a:t>
            </a:r>
          </a:p>
        </p:txBody>
      </p:sp>
      <p:sp>
        <p:nvSpPr>
          <p:cNvPr id="2" name="title">
            <a:extLst xmlns:a="http://schemas.openxmlformats.org/drawingml/2006/main">
              <a:ext uri="{FF2B5EF4-FFF2-40B4-BE49-F238E27FC236}">
                <a16:creationId xmlns:a16="http://schemas.microsoft.com/office/drawing/2014/main" id="{80E1B50D-E8ED-4C39-B925-718F23651E1A}"/>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A rejected routed repair</a:t>
            </a:r>
          </a:p>
        </p:txBody>
      </p:sp>
      <p:pic>
        <p:nvPicPr>
          <p:cNvPr id="3" name="">
            <a:extLst xmlns:a="http://schemas.openxmlformats.org/drawingml/2006/main">
              <a:ext uri="{FF2B5EF4-FFF2-40B4-BE49-F238E27FC236}">
                <a16:creationId xmlns:a16="http://schemas.microsoft.com/office/drawing/2014/main" id="{2B12A1D5-8E2E-4074-85ED-B08FBE67B40C}"/>
              </a:ext>
            </a:extLst>
          </p:cNvPr>
          <p:cNvPicPr>
            <a:picLocks xmlns:a="http://schemas.openxmlformats.org/drawingml/2006/main" noChangeAspect="1"/>
          </p:cNvPicPr>
          <p:nvPr/>
        </p:nvPicPr>
        <p:blipFill>
          <a:blip xmlns:r="http://schemas.openxmlformats.org/officeDocument/2006/relationships" xmlns:a="http://schemas.openxmlformats.org/drawingml/2006/main" r:embed="R1534633725014686"/>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13037004-9A83-4503-BF74-77338675882B}"/>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Changing a protected master stops evaluation before after-DRC</a:t>
            </a:r>
          </a:p>
        </p:txBody>
      </p:sp>
      <p:sp>
        <p:nvSpPr>
          <p:cNvPr id="5" name="layer-legend">
            <a:extLst xmlns:a="http://schemas.openxmlformats.org/drawingml/2006/main">
              <a:ext uri="{FF2B5EF4-FFF2-40B4-BE49-F238E27FC236}">
                <a16:creationId xmlns:a16="http://schemas.microsoft.com/office/drawing/2014/main" id="{50DB35A5-38BC-4C56-ADA4-F93526AEC6A8}"/>
              </a:ext>
            </a:extLst>
          </p:cNvPr>
          <p:cNvSpPr>
            <a:spLocks xmlns:a="http://schemas.openxmlformats.org/drawingml/2006/main" noGrp="1"/>
          </p:cNvSpPr>
          <p:nvPr/>
        </p:nvSpPr>
        <p:spPr>
          <a:xfrm xmlns:a="http://schemas.openxmlformats.org/drawingml/2006/main">
            <a:off x="457200" y="62960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M1 blue · M2 amber · V1 purple · V2 rose · M3 green | Red: saved markers</a:t>
            </a:r>
          </a:p>
        </p:txBody>
      </p:sp>
      <p:sp>
        <p:nvSpPr>
          <p:cNvPr id="6" name="source-note">
            <a:extLst xmlns:a="http://schemas.openxmlformats.org/drawingml/2006/main">
              <a:ext uri="{FF2B5EF4-FFF2-40B4-BE49-F238E27FC236}">
                <a16:creationId xmlns:a16="http://schemas.microsoft.com/office/drawing/2014/main" id="{A12DA141-7293-46DC-86D6-A5DB82EFB5F4}"/>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Bedrock l3_g0_c0 saved run bundle · exact paths in notes</a:t>
            </a:r>
          </a:p>
        </p:txBody>
      </p:sp>
      <p:sp>
        <p:nvSpPr>
          <p:cNvPr id="7" name="page">
            <a:extLst xmlns:a="http://schemas.openxmlformats.org/drawingml/2006/main">
              <a:ext uri="{FF2B5EF4-FFF2-40B4-BE49-F238E27FC236}">
                <a16:creationId xmlns:a16="http://schemas.microsoft.com/office/drawing/2014/main" id="{40CE4888-725C-4353-97E4-393117BC81D1}"/>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18</a:t>
            </a:r>
          </a:p>
        </p:txBody>
      </p:sp>
    </p:spTree>
    <p:extLst>
      <p:ext uri="{BB962C8B-B14F-4D97-AF65-F5344CB8AC3E}">
        <p14:creationId xmlns:p14="http://schemas.microsoft.com/office/powerpoint/2010/main" val="892015614"/>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A611E3C-B200-4BAE-80C3-1B0ABFBA142C}"/>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RESULTS / C1</a:t>
            </a:r>
          </a:p>
        </p:txBody>
      </p:sp>
      <p:sp>
        <p:nvSpPr>
          <p:cNvPr id="2" name="title">
            <a:extLst xmlns:a="http://schemas.openxmlformats.org/drawingml/2006/main">
              <a:ext uri="{FF2B5EF4-FFF2-40B4-BE49-F238E27FC236}">
                <a16:creationId xmlns:a16="http://schemas.microsoft.com/office/drawing/2014/main" id="{E361DB8D-27A7-4362-B5CD-B24AC5435582}"/>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C1 model comparison</a:t>
            </a:r>
          </a:p>
        </p:txBody>
      </p:sp>
      <p:pic>
        <p:nvPicPr>
          <p:cNvPr id="3" name="">
            <a:extLst xmlns:a="http://schemas.openxmlformats.org/drawingml/2006/main">
              <a:ext uri="{FF2B5EF4-FFF2-40B4-BE49-F238E27FC236}">
                <a16:creationId xmlns:a16="http://schemas.microsoft.com/office/drawing/2014/main" id="{DDFF8E1B-20A3-4F18-8E97-2FD4C220D02B}"/>
              </a:ext>
            </a:extLst>
          </p:cNvPr>
          <p:cNvPicPr>
            <a:picLocks xmlns:a="http://schemas.openxmlformats.org/drawingml/2006/main" noChangeAspect="1"/>
          </p:cNvPicPr>
          <p:nvPr/>
        </p:nvPicPr>
        <p:blipFill>
          <a:blip xmlns:r="http://schemas.openxmlformats.org/officeDocument/2006/relationships" xmlns:a="http://schemas.openxmlformats.org/drawingml/2006/main" r:embed="R99fef45c8663463f"/>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23DA7F02-A313-4E6F-A5A9-5705715CF943}"/>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Same 100 cases and request contents; model and provider changed together</a:t>
            </a:r>
          </a:p>
        </p:txBody>
      </p:sp>
      <p:sp>
        <p:nvSpPr>
          <p:cNvPr id="5" name="source-note">
            <a:extLst xmlns:a="http://schemas.openxmlformats.org/drawingml/2006/main">
              <a:ext uri="{FF2B5EF4-FFF2-40B4-BE49-F238E27FC236}">
                <a16:creationId xmlns:a16="http://schemas.microsoft.com/office/drawing/2014/main" id="{B2094D68-9686-4573-8323-78A3F5C95B6B}"/>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C1 campaign comparison + verification JSON · exact paths in notes</a:t>
            </a:r>
          </a:p>
        </p:txBody>
      </p:sp>
      <p:sp>
        <p:nvSpPr>
          <p:cNvPr id="6" name="page">
            <a:extLst xmlns:a="http://schemas.openxmlformats.org/drawingml/2006/main">
              <a:ext uri="{FF2B5EF4-FFF2-40B4-BE49-F238E27FC236}">
                <a16:creationId xmlns:a16="http://schemas.microsoft.com/office/drawing/2014/main" id="{CFB29571-0707-478F-83EC-2A5D8015D894}"/>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19</a:t>
            </a:r>
          </a:p>
        </p:txBody>
      </p:sp>
    </p:spTree>
    <p:extLst>
      <p:ext uri="{BB962C8B-B14F-4D97-AF65-F5344CB8AC3E}">
        <p14:creationId xmlns:p14="http://schemas.microsoft.com/office/powerpoint/2010/main" val="1730431332"/>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A5C0B9D8-6035-4D0E-AED7-2B3B492817A3}"/>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RESULTS / C1</a:t>
            </a:r>
          </a:p>
        </p:txBody>
      </p:sp>
      <p:sp>
        <p:nvSpPr>
          <p:cNvPr id="2" name="title">
            <a:extLst xmlns:a="http://schemas.openxmlformats.org/drawingml/2006/main">
              <a:ext uri="{FF2B5EF4-FFF2-40B4-BE49-F238E27FC236}">
                <a16:creationId xmlns:a16="http://schemas.microsoft.com/office/drawing/2014/main" id="{1E7BA211-3500-4C29-BF2E-6F954517746D}"/>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C1 results by rule</a:t>
            </a:r>
          </a:p>
        </p:txBody>
      </p:sp>
      <p:pic>
        <p:nvPicPr>
          <p:cNvPr id="3" name="">
            <a:extLst xmlns:a="http://schemas.openxmlformats.org/drawingml/2006/main">
              <a:ext uri="{FF2B5EF4-FFF2-40B4-BE49-F238E27FC236}">
                <a16:creationId xmlns:a16="http://schemas.microsoft.com/office/drawing/2014/main" id="{D1CE4A86-63E8-40BA-8319-87496854E98A}"/>
              </a:ext>
            </a:extLst>
          </p:cNvPr>
          <p:cNvPicPr>
            <a:picLocks xmlns:a="http://schemas.openxmlformats.org/drawingml/2006/main" noChangeAspect="1"/>
          </p:cNvPicPr>
          <p:nvPr/>
        </p:nvPicPr>
        <p:blipFill>
          <a:blip xmlns:r="http://schemas.openxmlformats.org/officeDocument/2006/relationships" xmlns:a="http://schemas.openxmlformats.org/drawingml/2006/main" r:embed="R85088e24a69c45ba"/>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CBC3035B-9ED2-4F33-B2A8-5172559BD260}"/>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OpenAI improved repair counts in every family; spacing still left three cases</a:t>
            </a:r>
          </a:p>
        </p:txBody>
      </p:sp>
      <p:sp>
        <p:nvSpPr>
          <p:cNvPr id="5" name="source-note">
            <a:extLst xmlns:a="http://schemas.openxmlformats.org/drawingml/2006/main">
              <a:ext uri="{FF2B5EF4-FFF2-40B4-BE49-F238E27FC236}">
                <a16:creationId xmlns:a16="http://schemas.microsoft.com/office/drawing/2014/main" id="{924D0032-EE78-4950-A5A0-C92438516451}"/>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C1 campaign comparison JSON · exact paths in notes</a:t>
            </a:r>
          </a:p>
        </p:txBody>
      </p:sp>
      <p:sp>
        <p:nvSpPr>
          <p:cNvPr id="6" name="page">
            <a:extLst xmlns:a="http://schemas.openxmlformats.org/drawingml/2006/main">
              <a:ext uri="{FF2B5EF4-FFF2-40B4-BE49-F238E27FC236}">
                <a16:creationId xmlns:a16="http://schemas.microsoft.com/office/drawing/2014/main" id="{14750790-4E25-46D4-B210-FE3E4DC87641}"/>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20</a:t>
            </a:r>
          </a:p>
        </p:txBody>
      </p:sp>
    </p:spTree>
    <p:extLst>
      <p:ext uri="{BB962C8B-B14F-4D97-AF65-F5344CB8AC3E}">
        <p14:creationId xmlns:p14="http://schemas.microsoft.com/office/powerpoint/2010/main" val="2056299856"/>
      </p:ext>
    </p:extLst>
  </p:cSld>
</p:sld>
</file>

<file path=ppt/slides/slide2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D0C2B963-0C2B-4714-BA4D-3FE08F41EF3D}"/>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RESULTS / C2/C3</a:t>
            </a:r>
          </a:p>
        </p:txBody>
      </p:sp>
      <p:sp>
        <p:nvSpPr>
          <p:cNvPr id="2" name="title">
            <a:extLst xmlns:a="http://schemas.openxmlformats.org/drawingml/2006/main">
              <a:ext uri="{FF2B5EF4-FFF2-40B4-BE49-F238E27FC236}">
                <a16:creationId xmlns:a16="http://schemas.microsoft.com/office/drawing/2014/main" id="{9BFC4169-8588-4B24-9A46-A214AA6DD157}"/>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C2/C3 method comparison</a:t>
            </a:r>
          </a:p>
        </p:txBody>
      </p:sp>
      <p:pic>
        <p:nvPicPr>
          <p:cNvPr id="3" name="">
            <a:extLst xmlns:a="http://schemas.openxmlformats.org/drawingml/2006/main">
              <a:ext uri="{FF2B5EF4-FFF2-40B4-BE49-F238E27FC236}">
                <a16:creationId xmlns:a16="http://schemas.microsoft.com/office/drawing/2014/main" id="{CF363C78-737A-4379-9963-D8EEA85529A4}"/>
              </a:ext>
            </a:extLst>
          </p:cNvPr>
          <p:cNvPicPr>
            <a:picLocks xmlns:a="http://schemas.openxmlformats.org/drawingml/2006/main" noChangeAspect="1"/>
          </p:cNvPicPr>
          <p:nvPr/>
        </p:nvPicPr>
        <p:blipFill>
          <a:blip xmlns:r="http://schemas.openxmlformats.org/officeDocument/2006/relationships" xmlns:a="http://schemas.openxmlformats.org/drawingml/2006/main" r:embed="R603ed7f37b7b4e1c"/>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107CFB7B-6E0A-4016-947E-4DC3955FBE8D}"/>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All tested methods repaired 0/30; control restraint differs</a:t>
            </a:r>
          </a:p>
        </p:txBody>
      </p:sp>
      <p:sp>
        <p:nvSpPr>
          <p:cNvPr id="5" name="source-note">
            <a:extLst xmlns:a="http://schemas.openxmlformats.org/drawingml/2006/main">
              <a:ext uri="{FF2B5EF4-FFF2-40B4-BE49-F238E27FC236}">
                <a16:creationId xmlns:a16="http://schemas.microsoft.com/office/drawing/2014/main" id="{3075559A-341E-4F6D-9BEE-1C9457F69800}"/>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Separate agent, heuristic and no-change summaries · exact paths in notes</a:t>
            </a:r>
          </a:p>
        </p:txBody>
      </p:sp>
      <p:sp>
        <p:nvSpPr>
          <p:cNvPr id="6" name="page">
            <a:extLst xmlns:a="http://schemas.openxmlformats.org/drawingml/2006/main">
              <a:ext uri="{FF2B5EF4-FFF2-40B4-BE49-F238E27FC236}">
                <a16:creationId xmlns:a16="http://schemas.microsoft.com/office/drawing/2014/main" id="{32538E51-AC0B-4C43-959A-394915E6E44B}"/>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21</a:t>
            </a:r>
          </a:p>
        </p:txBody>
      </p:sp>
    </p:spTree>
    <p:extLst>
      <p:ext uri="{BB962C8B-B14F-4D97-AF65-F5344CB8AC3E}">
        <p14:creationId xmlns:p14="http://schemas.microsoft.com/office/powerpoint/2010/main" val="2099107264"/>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CC893702-F658-4C17-8E59-C52E744E94FD}"/>
              </a:ext>
            </a:extLst>
          </p:cNvPr>
          <p:cNvSpPr>
            <a:spLocks xmlns:a="http://schemas.openxmlformats.org/drawingml/2006/main" noGrp="1"/>
          </p:cNvSpPr>
          <p:nvPr/>
        </p:nvSpPr>
        <p:spPr>
          <a:xfrm xmlns:a="http://schemas.openxmlformats.org/drawingml/2006/main">
            <a:off x="457200" y="247650"/>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06779"/>
                </a:solidFill>
                <a:latin typeface="DejaVu Sans"/>
                <a:ea typeface="DejaVu Sans"/>
                <a:cs typeface="DejaVu Sans"/>
              </a:defRPr>
            </a:defPPr>
            <a:lvl1pPr>
              <a:defRPr sz="1200" b="0">
                <a:solidFill>
                  <a:srgbClr val="506779"/>
                </a:solidFill>
                <a:latin typeface="DejaVu Sans"/>
                <a:ea typeface="DejaVu Sans"/>
                <a:cs typeface="DejaVu Sans"/>
              </a:defRPr>
            </a:lvl1pPr>
            <a:lvl2pPr>
              <a:defRPr sz="1200" b="0">
                <a:solidFill>
                  <a:srgbClr val="506779"/>
                </a:solidFill>
                <a:latin typeface="DejaVu Sans"/>
                <a:ea typeface="DejaVu Sans"/>
                <a:cs typeface="DejaVu Sans"/>
              </a:defRPr>
            </a:lvl2pPr>
            <a:lvl3pPr>
              <a:defRPr sz="1200" b="0">
                <a:solidFill>
                  <a:srgbClr val="506779"/>
                </a:solidFill>
                <a:latin typeface="DejaVu Sans"/>
                <a:ea typeface="DejaVu Sans"/>
                <a:cs typeface="DejaVu Sans"/>
              </a:defRPr>
            </a:lvl3pPr>
            <a:lvl4pPr>
              <a:defRPr sz="1200" b="0">
                <a:solidFill>
                  <a:srgbClr val="506779"/>
                </a:solidFill>
                <a:latin typeface="DejaVu Sans"/>
                <a:ea typeface="DejaVu Sans"/>
                <a:cs typeface="DejaVu Sans"/>
              </a:defRPr>
            </a:lvl4pPr>
            <a:lvl5pPr>
              <a:defRPr sz="1200" b="0">
                <a:solidFill>
                  <a:srgbClr val="506779"/>
                </a:solidFill>
                <a:latin typeface="DejaVu Sans"/>
                <a:ea typeface="DejaVu Sans"/>
                <a:cs typeface="DejaVu Sans"/>
              </a:defRPr>
            </a:lvl5pPr>
            <a:lvl6pPr>
              <a:defRPr sz="1200" b="0">
                <a:solidFill>
                  <a:srgbClr val="506779"/>
                </a:solidFill>
                <a:latin typeface="DejaVu Sans"/>
                <a:ea typeface="DejaVu Sans"/>
                <a:cs typeface="DejaVu Sans"/>
              </a:defRPr>
            </a:lvl6pPr>
            <a:lvl7pPr>
              <a:defRPr sz="1200" b="0">
                <a:solidFill>
                  <a:srgbClr val="506779"/>
                </a:solidFill>
                <a:latin typeface="DejaVu Sans"/>
                <a:ea typeface="DejaVu Sans"/>
                <a:cs typeface="DejaVu Sans"/>
              </a:defRPr>
            </a:lvl7pPr>
            <a:lvl8pPr>
              <a:defRPr sz="1200" b="0">
                <a:solidFill>
                  <a:srgbClr val="506779"/>
                </a:solidFill>
                <a:latin typeface="DejaVu Sans"/>
                <a:ea typeface="DejaVu Sans"/>
                <a:cs typeface="DejaVu Sans"/>
              </a:defRPr>
            </a:lvl8pPr>
            <a:lvl9pPr>
              <a:defRPr sz="1200" b="0">
                <a:solidFill>
                  <a:srgbClr val="506779"/>
                </a:solidFill>
                <a:latin typeface="DejaVu Sans"/>
                <a:ea typeface="DejaVu Sans"/>
                <a:cs typeface="DejaVu Sans"/>
              </a:defRPr>
            </a:lvl9pPr>
          </a:lstStyle>
          <a:p xmlns:a="http://schemas.openxmlformats.org/drawingml/2006/main">
            <a:pPr>
              <a:defRPr sz="1200" b="0">
                <a:solidFill>
                  <a:srgbClr val="506779"/>
                </a:solidFill>
                <a:latin typeface="DejaVu Sans"/>
                <a:ea typeface="DejaVu Sans"/>
                <a:cs typeface="DejaVu Sans"/>
              </a:defRPr>
            </a:pPr>
            <a:r>
              <a:rPr sz="1200" b="0">
                <a:solidFill>
                  <a:srgbClr val="506779"/>
                </a:solidFill>
                <a:latin typeface="DejaVu Sans"/>
                <a:ea typeface="DejaVu Sans"/>
                <a:cs typeface="DejaVu Sans"/>
              </a:rPr>
              <a:t>RESULTS / C2/C3</a:t>
            </a:r>
          </a:p>
        </p:txBody>
      </p:sp>
      <p:sp>
        <p:nvSpPr>
          <p:cNvPr id="2" name="title">
            <a:extLst xmlns:a="http://schemas.openxmlformats.org/drawingml/2006/main">
              <a:ext uri="{FF2B5EF4-FFF2-40B4-BE49-F238E27FC236}">
                <a16:creationId xmlns:a16="http://schemas.microsoft.com/office/drawing/2014/main" id="{B8103783-C921-4F2E-9E8B-48CCAAF0D337}"/>
              </a:ext>
            </a:extLst>
          </p:cNvPr>
          <p:cNvSpPr>
            <a:spLocks xmlns:a="http://schemas.openxmlformats.org/drawingml/2006/main" noGrp="1"/>
          </p:cNvSpPr>
          <p:nvPr/>
        </p:nvSpPr>
        <p:spPr>
          <a:xfrm xmlns:a="http://schemas.openxmlformats.org/drawingml/2006/main">
            <a:off x="457200" y="600075"/>
            <a:ext cx="11277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A3B"/>
                </a:solidFill>
                <a:latin typeface="DejaVu Sans"/>
                <a:ea typeface="DejaVu Sans"/>
                <a:cs typeface="DejaVu Sans"/>
              </a:defRPr>
            </a:defPPr>
            <a:lvl1pPr>
              <a:defRPr sz="3225" b="1">
                <a:solidFill>
                  <a:srgbClr val="142A3B"/>
                </a:solidFill>
                <a:latin typeface="DejaVu Sans"/>
                <a:ea typeface="DejaVu Sans"/>
                <a:cs typeface="DejaVu Sans"/>
              </a:defRPr>
            </a:lvl1pPr>
            <a:lvl2pPr>
              <a:defRPr sz="3225" b="1">
                <a:solidFill>
                  <a:srgbClr val="142A3B"/>
                </a:solidFill>
                <a:latin typeface="DejaVu Sans"/>
                <a:ea typeface="DejaVu Sans"/>
                <a:cs typeface="DejaVu Sans"/>
              </a:defRPr>
            </a:lvl2pPr>
            <a:lvl3pPr>
              <a:defRPr sz="3225" b="1">
                <a:solidFill>
                  <a:srgbClr val="142A3B"/>
                </a:solidFill>
                <a:latin typeface="DejaVu Sans"/>
                <a:ea typeface="DejaVu Sans"/>
                <a:cs typeface="DejaVu Sans"/>
              </a:defRPr>
            </a:lvl3pPr>
            <a:lvl4pPr>
              <a:defRPr sz="3225" b="1">
                <a:solidFill>
                  <a:srgbClr val="142A3B"/>
                </a:solidFill>
                <a:latin typeface="DejaVu Sans"/>
                <a:ea typeface="DejaVu Sans"/>
                <a:cs typeface="DejaVu Sans"/>
              </a:defRPr>
            </a:lvl4pPr>
            <a:lvl5pPr>
              <a:defRPr sz="3225" b="1">
                <a:solidFill>
                  <a:srgbClr val="142A3B"/>
                </a:solidFill>
                <a:latin typeface="DejaVu Sans"/>
                <a:ea typeface="DejaVu Sans"/>
                <a:cs typeface="DejaVu Sans"/>
              </a:defRPr>
            </a:lvl5pPr>
            <a:lvl6pPr>
              <a:defRPr sz="3225" b="1">
                <a:solidFill>
                  <a:srgbClr val="142A3B"/>
                </a:solidFill>
                <a:latin typeface="DejaVu Sans"/>
                <a:ea typeface="DejaVu Sans"/>
                <a:cs typeface="DejaVu Sans"/>
              </a:defRPr>
            </a:lvl6pPr>
            <a:lvl7pPr>
              <a:defRPr sz="3225" b="1">
                <a:solidFill>
                  <a:srgbClr val="142A3B"/>
                </a:solidFill>
                <a:latin typeface="DejaVu Sans"/>
                <a:ea typeface="DejaVu Sans"/>
                <a:cs typeface="DejaVu Sans"/>
              </a:defRPr>
            </a:lvl7pPr>
            <a:lvl8pPr>
              <a:defRPr sz="3225" b="1">
                <a:solidFill>
                  <a:srgbClr val="142A3B"/>
                </a:solidFill>
                <a:latin typeface="DejaVu Sans"/>
                <a:ea typeface="DejaVu Sans"/>
                <a:cs typeface="DejaVu Sans"/>
              </a:defRPr>
            </a:lvl8pPr>
            <a:lvl9pPr>
              <a:defRPr sz="3225" b="1">
                <a:solidFill>
                  <a:srgbClr val="142A3B"/>
                </a:solidFill>
                <a:latin typeface="DejaVu Sans"/>
                <a:ea typeface="DejaVu Sans"/>
                <a:cs typeface="DejaVu Sans"/>
              </a:defRPr>
            </a:lvl9pPr>
          </a:lstStyle>
          <a:p xmlns:a="http://schemas.openxmlformats.org/drawingml/2006/main">
            <a:pPr>
              <a:defRPr sz="3225" b="1">
                <a:solidFill>
                  <a:srgbClr val="142A3B"/>
                </a:solidFill>
                <a:latin typeface="DejaVu Sans"/>
                <a:ea typeface="DejaVu Sans"/>
                <a:cs typeface="DejaVu Sans"/>
              </a:defRPr>
            </a:pPr>
            <a:r>
              <a:rPr sz="3225" b="1">
                <a:solidFill>
                  <a:srgbClr val="142A3B"/>
                </a:solidFill>
                <a:latin typeface="DejaVu Sans"/>
                <a:ea typeface="DejaVu Sans"/>
                <a:cs typeface="DejaVu Sans"/>
              </a:rPr>
              <a:t>Results and limits</a:t>
            </a:r>
          </a:p>
        </p:txBody>
      </p:sp>
      <p:pic>
        <p:nvPicPr>
          <p:cNvPr id="3" name="">
            <a:extLst xmlns:a="http://schemas.openxmlformats.org/drawingml/2006/main">
              <a:ext uri="{FF2B5EF4-FFF2-40B4-BE49-F238E27FC236}">
                <a16:creationId xmlns:a16="http://schemas.microsoft.com/office/drawing/2014/main" id="{80434A3F-6608-409A-A293-B042F678CCB1}"/>
              </a:ext>
            </a:extLst>
          </p:cNvPr>
          <p:cNvPicPr>
            <a:picLocks xmlns:a="http://schemas.openxmlformats.org/drawingml/2006/main" noChangeAspect="1"/>
          </p:cNvPicPr>
          <p:nvPr/>
        </p:nvPicPr>
        <p:blipFill>
          <a:blip xmlns:r="http://schemas.openxmlformats.org/officeDocument/2006/relationships" xmlns:a="http://schemas.openxmlformats.org/drawingml/2006/main" r:embed="R9b61466796a842d9"/>
          <a:stretch xmlns:a="http://schemas.openxmlformats.org/drawingml/2006/main"/>
        </p:blipFill>
        <p:spPr>
          <a:xfrm xmlns:a="http://schemas.openxmlformats.org/drawingml/2006/main">
            <a:off x="459434" y="1600200"/>
            <a:ext cx="11273132" cy="4095750"/>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21617F45-9702-42F8-8305-AB90B9571211}"/>
              </a:ext>
            </a:extLst>
          </p:cNvPr>
          <p:cNvSpPr>
            <a:spLocks xmlns:a="http://schemas.openxmlformats.org/drawingml/2006/main" noGrp="1"/>
          </p:cNvSpPr>
          <p:nvPr/>
        </p:nvSpPr>
        <p:spPr>
          <a:xfrm xmlns:a="http://schemas.openxmlformats.org/drawingml/2006/main">
            <a:off x="457200" y="5876925"/>
            <a:ext cx="11277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142A3B"/>
                </a:solidFill>
                <a:latin typeface="DejaVu Sans"/>
                <a:ea typeface="DejaVu Sans"/>
                <a:cs typeface="DejaVu Sans"/>
              </a:defRPr>
            </a:defPPr>
            <a:lvl1pPr>
              <a:defRPr sz="1725" b="0">
                <a:solidFill>
                  <a:srgbClr val="142A3B"/>
                </a:solidFill>
                <a:latin typeface="DejaVu Sans"/>
                <a:ea typeface="DejaVu Sans"/>
                <a:cs typeface="DejaVu Sans"/>
              </a:defRPr>
            </a:lvl1pPr>
            <a:lvl2pPr>
              <a:defRPr sz="1725" b="0">
                <a:solidFill>
                  <a:srgbClr val="142A3B"/>
                </a:solidFill>
                <a:latin typeface="DejaVu Sans"/>
                <a:ea typeface="DejaVu Sans"/>
                <a:cs typeface="DejaVu Sans"/>
              </a:defRPr>
            </a:lvl2pPr>
            <a:lvl3pPr>
              <a:defRPr sz="1725" b="0">
                <a:solidFill>
                  <a:srgbClr val="142A3B"/>
                </a:solidFill>
                <a:latin typeface="DejaVu Sans"/>
                <a:ea typeface="DejaVu Sans"/>
                <a:cs typeface="DejaVu Sans"/>
              </a:defRPr>
            </a:lvl3pPr>
            <a:lvl4pPr>
              <a:defRPr sz="1725" b="0">
                <a:solidFill>
                  <a:srgbClr val="142A3B"/>
                </a:solidFill>
                <a:latin typeface="DejaVu Sans"/>
                <a:ea typeface="DejaVu Sans"/>
                <a:cs typeface="DejaVu Sans"/>
              </a:defRPr>
            </a:lvl4pPr>
            <a:lvl5pPr>
              <a:defRPr sz="1725" b="0">
                <a:solidFill>
                  <a:srgbClr val="142A3B"/>
                </a:solidFill>
                <a:latin typeface="DejaVu Sans"/>
                <a:ea typeface="DejaVu Sans"/>
                <a:cs typeface="DejaVu Sans"/>
              </a:defRPr>
            </a:lvl5pPr>
            <a:lvl6pPr>
              <a:defRPr sz="1725" b="0">
                <a:solidFill>
                  <a:srgbClr val="142A3B"/>
                </a:solidFill>
                <a:latin typeface="DejaVu Sans"/>
                <a:ea typeface="DejaVu Sans"/>
                <a:cs typeface="DejaVu Sans"/>
              </a:defRPr>
            </a:lvl6pPr>
            <a:lvl7pPr>
              <a:defRPr sz="1725" b="0">
                <a:solidFill>
                  <a:srgbClr val="142A3B"/>
                </a:solidFill>
                <a:latin typeface="DejaVu Sans"/>
                <a:ea typeface="DejaVu Sans"/>
                <a:cs typeface="DejaVu Sans"/>
              </a:defRPr>
            </a:lvl7pPr>
            <a:lvl8pPr>
              <a:defRPr sz="1725" b="0">
                <a:solidFill>
                  <a:srgbClr val="142A3B"/>
                </a:solidFill>
                <a:latin typeface="DejaVu Sans"/>
                <a:ea typeface="DejaVu Sans"/>
                <a:cs typeface="DejaVu Sans"/>
              </a:defRPr>
            </a:lvl8pPr>
            <a:lvl9pPr>
              <a:defRPr sz="1725" b="0">
                <a:solidFill>
                  <a:srgbClr val="142A3B"/>
                </a:solidFill>
                <a:latin typeface="DejaVu Sans"/>
                <a:ea typeface="DejaVu Sans"/>
                <a:cs typeface="DejaVu Sans"/>
              </a:defRPr>
            </a:lvl9pPr>
          </a:lstStyle>
          <a:p xmlns:a="http://schemas.openxmlformats.org/drawingml/2006/main">
            <a:pPr>
              <a:defRPr sz="1725" b="0">
                <a:solidFill>
                  <a:srgbClr val="142A3B"/>
                </a:solidFill>
                <a:latin typeface="DejaVu Sans"/>
                <a:ea typeface="DejaVu Sans"/>
                <a:cs typeface="DejaVu Sans"/>
              </a:defRPr>
            </a:pPr>
            <a:r>
              <a:rPr sz="1725" b="0">
                <a:solidFill>
                  <a:srgbClr val="142A3B"/>
                </a:solidFill>
                <a:latin typeface="DejaVu Sans"/>
                <a:ea typeface="DejaVu Sans"/>
                <a:cs typeface="DejaVu Sans"/>
              </a:rPr>
              <a:t>Better API guidance does not remove script, policy, or geometry failures</a:t>
            </a:r>
          </a:p>
        </p:txBody>
      </p:sp>
      <p:sp>
        <p:nvSpPr>
          <p:cNvPr id="5" name="source-note">
            <a:extLst xmlns:a="http://schemas.openxmlformats.org/drawingml/2006/main">
              <a:ext uri="{FF2B5EF4-FFF2-40B4-BE49-F238E27FC236}">
                <a16:creationId xmlns:a16="http://schemas.microsoft.com/office/drawing/2014/main" id="{8F0C26E7-F1EA-4AB6-AB56-3DAFE3A3B13D}"/>
              </a:ext>
            </a:extLst>
          </p:cNvPr>
          <p:cNvSpPr>
            <a:spLocks xmlns:a="http://schemas.openxmlformats.org/drawingml/2006/main" noGrp="1"/>
          </p:cNvSpPr>
          <p:nvPr/>
        </p:nvSpPr>
        <p:spPr>
          <a:xfrm xmlns:a="http://schemas.openxmlformats.org/drawingml/2006/main">
            <a:off x="457200" y="6553200"/>
            <a:ext cx="10668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00" b="0">
                <a:solidFill>
                  <a:srgbClr val="506779"/>
                </a:solidFill>
                <a:latin typeface="DejaVu Sans"/>
                <a:ea typeface="DejaVu Sans"/>
                <a:cs typeface="DejaVu Sans"/>
              </a:defRPr>
            </a:defPPr>
            <a:lvl1pPr>
              <a:defRPr sz="900" b="0">
                <a:solidFill>
                  <a:srgbClr val="506779"/>
                </a:solidFill>
                <a:latin typeface="DejaVu Sans"/>
                <a:ea typeface="DejaVu Sans"/>
                <a:cs typeface="DejaVu Sans"/>
              </a:defRPr>
            </a:lvl1pPr>
            <a:lvl2pPr>
              <a:defRPr sz="900" b="0">
                <a:solidFill>
                  <a:srgbClr val="506779"/>
                </a:solidFill>
                <a:latin typeface="DejaVu Sans"/>
                <a:ea typeface="DejaVu Sans"/>
                <a:cs typeface="DejaVu Sans"/>
              </a:defRPr>
            </a:lvl2pPr>
            <a:lvl3pPr>
              <a:defRPr sz="900" b="0">
                <a:solidFill>
                  <a:srgbClr val="506779"/>
                </a:solidFill>
                <a:latin typeface="DejaVu Sans"/>
                <a:ea typeface="DejaVu Sans"/>
                <a:cs typeface="DejaVu Sans"/>
              </a:defRPr>
            </a:lvl3pPr>
            <a:lvl4pPr>
              <a:defRPr sz="900" b="0">
                <a:solidFill>
                  <a:srgbClr val="506779"/>
                </a:solidFill>
                <a:latin typeface="DejaVu Sans"/>
                <a:ea typeface="DejaVu Sans"/>
                <a:cs typeface="DejaVu Sans"/>
              </a:defRPr>
            </a:lvl4pPr>
            <a:lvl5pPr>
              <a:defRPr sz="900" b="0">
                <a:solidFill>
                  <a:srgbClr val="506779"/>
                </a:solidFill>
                <a:latin typeface="DejaVu Sans"/>
                <a:ea typeface="DejaVu Sans"/>
                <a:cs typeface="DejaVu Sans"/>
              </a:defRPr>
            </a:lvl5pPr>
            <a:lvl6pPr>
              <a:defRPr sz="900" b="0">
                <a:solidFill>
                  <a:srgbClr val="506779"/>
                </a:solidFill>
                <a:latin typeface="DejaVu Sans"/>
                <a:ea typeface="DejaVu Sans"/>
                <a:cs typeface="DejaVu Sans"/>
              </a:defRPr>
            </a:lvl6pPr>
            <a:lvl7pPr>
              <a:defRPr sz="900" b="0">
                <a:solidFill>
                  <a:srgbClr val="506779"/>
                </a:solidFill>
                <a:latin typeface="DejaVu Sans"/>
                <a:ea typeface="DejaVu Sans"/>
                <a:cs typeface="DejaVu Sans"/>
              </a:defRPr>
            </a:lvl7pPr>
            <a:lvl8pPr>
              <a:defRPr sz="900" b="0">
                <a:solidFill>
                  <a:srgbClr val="506779"/>
                </a:solidFill>
                <a:latin typeface="DejaVu Sans"/>
                <a:ea typeface="DejaVu Sans"/>
                <a:cs typeface="DejaVu Sans"/>
              </a:defRPr>
            </a:lvl8pPr>
            <a:lvl9pPr>
              <a:defRPr sz="900" b="0">
                <a:solidFill>
                  <a:srgbClr val="506779"/>
                </a:solidFill>
                <a:latin typeface="DejaVu Sans"/>
                <a:ea typeface="DejaVu Sans"/>
                <a:cs typeface="DejaVu Sans"/>
              </a:defRPr>
            </a:lvl9pPr>
          </a:lstStyle>
          <a:p xmlns:a="http://schemas.openxmlformats.org/drawingml/2006/main">
            <a:pPr>
              <a:defRPr sz="900" b="0">
                <a:solidFill>
                  <a:srgbClr val="506779"/>
                </a:solidFill>
                <a:latin typeface="DejaVu Sans"/>
                <a:ea typeface="DejaVu Sans"/>
                <a:cs typeface="DejaVu Sans"/>
              </a:defRPr>
            </a:pPr>
            <a:r>
              <a:rPr sz="900" b="0">
                <a:solidFill>
                  <a:srgbClr val="506779"/>
                </a:solidFill>
                <a:latin typeface="DejaVu Sans"/>
                <a:ea typeface="DejaVu Sans"/>
                <a:cs typeface="DejaVu Sans"/>
              </a:rPr>
              <a:t>Sources: C2/C3 accounting JSON + saved failure diagnostics · exact paths in notes</a:t>
            </a:r>
          </a:p>
        </p:txBody>
      </p:sp>
      <p:sp>
        <p:nvSpPr>
          <p:cNvPr id="6" name="page">
            <a:extLst xmlns:a="http://schemas.openxmlformats.org/drawingml/2006/main">
              <a:ext uri="{FF2B5EF4-FFF2-40B4-BE49-F238E27FC236}">
                <a16:creationId xmlns:a16="http://schemas.microsoft.com/office/drawing/2014/main" id="{AC7DD774-BAF2-4527-9D2E-A78F9276A7CF}"/>
              </a:ext>
            </a:extLst>
          </p:cNvPr>
          <p:cNvSpPr>
            <a:spLocks xmlns:a="http://schemas.openxmlformats.org/drawingml/2006/main" noGrp="1"/>
          </p:cNvSpPr>
          <p:nvPr/>
        </p:nvSpPr>
        <p:spPr>
          <a:xfrm xmlns:a="http://schemas.openxmlformats.org/drawingml/2006/main">
            <a:off x="11382375" y="65151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506779"/>
                </a:solidFill>
                <a:latin typeface="DejaVu Sans"/>
                <a:ea typeface="DejaVu Sans"/>
                <a:cs typeface="DejaVu Sans"/>
              </a:defRPr>
            </a:defPPr>
            <a:lvl1pPr>
              <a:defRPr sz="1275" b="0">
                <a:solidFill>
                  <a:srgbClr val="506779"/>
                </a:solidFill>
                <a:latin typeface="DejaVu Sans"/>
                <a:ea typeface="DejaVu Sans"/>
                <a:cs typeface="DejaVu Sans"/>
              </a:defRPr>
            </a:lvl1pPr>
            <a:lvl2pPr>
              <a:defRPr sz="1275" b="0">
                <a:solidFill>
                  <a:srgbClr val="506779"/>
                </a:solidFill>
                <a:latin typeface="DejaVu Sans"/>
                <a:ea typeface="DejaVu Sans"/>
                <a:cs typeface="DejaVu Sans"/>
              </a:defRPr>
            </a:lvl2pPr>
            <a:lvl3pPr>
              <a:defRPr sz="1275" b="0">
                <a:solidFill>
                  <a:srgbClr val="506779"/>
                </a:solidFill>
                <a:latin typeface="DejaVu Sans"/>
                <a:ea typeface="DejaVu Sans"/>
                <a:cs typeface="DejaVu Sans"/>
              </a:defRPr>
            </a:lvl3pPr>
            <a:lvl4pPr>
              <a:defRPr sz="1275" b="0">
                <a:solidFill>
                  <a:srgbClr val="506779"/>
                </a:solidFill>
                <a:latin typeface="DejaVu Sans"/>
                <a:ea typeface="DejaVu Sans"/>
                <a:cs typeface="DejaVu Sans"/>
              </a:defRPr>
            </a:lvl4pPr>
            <a:lvl5pPr>
              <a:defRPr sz="1275" b="0">
                <a:solidFill>
                  <a:srgbClr val="506779"/>
                </a:solidFill>
                <a:latin typeface="DejaVu Sans"/>
                <a:ea typeface="DejaVu Sans"/>
                <a:cs typeface="DejaVu Sans"/>
              </a:defRPr>
            </a:lvl5pPr>
            <a:lvl6pPr>
              <a:defRPr sz="1275" b="0">
                <a:solidFill>
                  <a:srgbClr val="506779"/>
                </a:solidFill>
                <a:latin typeface="DejaVu Sans"/>
                <a:ea typeface="DejaVu Sans"/>
                <a:cs typeface="DejaVu Sans"/>
              </a:defRPr>
            </a:lvl6pPr>
            <a:lvl7pPr>
              <a:defRPr sz="1275" b="0">
                <a:solidFill>
                  <a:srgbClr val="506779"/>
                </a:solidFill>
                <a:latin typeface="DejaVu Sans"/>
                <a:ea typeface="DejaVu Sans"/>
                <a:cs typeface="DejaVu Sans"/>
              </a:defRPr>
            </a:lvl7pPr>
            <a:lvl8pPr>
              <a:defRPr sz="1275" b="0">
                <a:solidFill>
                  <a:srgbClr val="506779"/>
                </a:solidFill>
                <a:latin typeface="DejaVu Sans"/>
                <a:ea typeface="DejaVu Sans"/>
                <a:cs typeface="DejaVu Sans"/>
              </a:defRPr>
            </a:lvl8pPr>
            <a:lvl9pPr>
              <a:defRPr sz="1275" b="0">
                <a:solidFill>
                  <a:srgbClr val="506779"/>
                </a:solidFill>
                <a:latin typeface="DejaVu Sans"/>
                <a:ea typeface="DejaVu Sans"/>
                <a:cs typeface="DejaVu Sans"/>
              </a:defRPr>
            </a:lvl9pPr>
          </a:lstStyle>
          <a:p xmlns:a="http://schemas.openxmlformats.org/drawingml/2006/main">
            <a:pPr>
              <a:defRPr sz="1275" b="0">
                <a:solidFill>
                  <a:srgbClr val="506779"/>
                </a:solidFill>
                <a:latin typeface="DejaVu Sans"/>
                <a:ea typeface="DejaVu Sans"/>
                <a:cs typeface="DejaVu Sans"/>
              </a:defRPr>
            </a:pPr>
            <a:r>
              <a:rPr sz="1275" b="0">
                <a:solidFill>
                  <a:srgbClr val="506779"/>
                </a:solidFill>
                <a:latin typeface="DejaVu Sans"/>
                <a:ea typeface="DejaVu Sans"/>
                <a:cs typeface="DejaVu Sans"/>
              </a:rPr>
              <a:t>22</a:t>
            </a:r>
          </a:p>
        </p:txBody>
      </p:sp>
    </p:spTree>
    <p:extLst>
      <p:ext uri="{BB962C8B-B14F-4D97-AF65-F5344CB8AC3E}">
        <p14:creationId xmlns:p14="http://schemas.microsoft.com/office/powerpoint/2010/main" val="1062369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2026-10-28T10:57:44.9690000Z</dcterms:created>
  <dcterms:modified xsi:type="dcterms:W3CDTF">2026-10-28T10:57:44.9690000Z</dcterms:modified>
</coreProperties>
</file>